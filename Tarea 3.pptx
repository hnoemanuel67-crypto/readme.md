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2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3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3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6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44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29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5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697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51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88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60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21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0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999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Metodologías</a:t>
            </a:r>
            <a:r>
              <a:rPr dirty="0"/>
              <a:t> de Desarrollo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2000" dirty="0"/>
              <a:t>Cascada vs </a:t>
            </a:r>
            <a:r>
              <a:rPr sz="2000" dirty="0" err="1"/>
              <a:t>Ágil</a:t>
            </a:r>
            <a:endParaRPr sz="2000" dirty="0"/>
          </a:p>
        </p:txBody>
      </p:sp>
      <p:pic>
        <p:nvPicPr>
          <p:cNvPr id="1028" name="Picture 4" descr="Metodología Waterfall vs Metodología Agile • DoneTonic">
            <a:extLst>
              <a:ext uri="{FF2B5EF4-FFF2-40B4-BE49-F238E27FC236}">
                <a16:creationId xmlns:a16="http://schemas.microsoft.com/office/drawing/2014/main" id="{DB45DC8F-8370-F385-3E81-73C8EBB5D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311" y="2724150"/>
            <a:ext cx="6313391" cy="274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400" dirty="0"/>
              <a:t>¿</a:t>
            </a:r>
            <a:r>
              <a:rPr sz="4400" dirty="0" err="1"/>
              <a:t>Qué</a:t>
            </a:r>
            <a:r>
              <a:rPr sz="4400" dirty="0"/>
              <a:t> es la </a:t>
            </a:r>
            <a:r>
              <a:rPr sz="4400" dirty="0" err="1"/>
              <a:t>metodología</a:t>
            </a:r>
            <a:r>
              <a:rPr sz="4400" dirty="0"/>
              <a:t> Cascada?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76777"/>
            <a:ext cx="7765322" cy="4058751"/>
          </a:xfrm>
        </p:spPr>
        <p:txBody>
          <a:bodyPr>
            <a:normAutofit/>
          </a:bodyPr>
          <a:lstStyle/>
          <a:p>
            <a:r>
              <a:rPr lang="es-ES" sz="2800" dirty="0"/>
              <a:t>es un enfoque secuencial y lineal para la gestión de proyectos donde cada fase (requisitos, diseño, implementación, pruebas, despliegue) debe finalizarse antes de iniciar la siguiente</a:t>
            </a:r>
            <a:r>
              <a:rPr lang="es-ES" sz="2800" dirty="0">
                <a:effectLst/>
              </a:rPr>
              <a:t>. 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400" dirty="0" err="1"/>
              <a:t>Fases</a:t>
            </a:r>
            <a:r>
              <a:rPr sz="4400" dirty="0"/>
              <a:t> de la </a:t>
            </a:r>
            <a:r>
              <a:rPr sz="4400" dirty="0" err="1"/>
              <a:t>Metodología</a:t>
            </a:r>
            <a:r>
              <a:rPr sz="4400" dirty="0"/>
              <a:t> Cascada</a:t>
            </a:r>
          </a:p>
        </p:txBody>
      </p:sp>
      <p:pic>
        <p:nvPicPr>
          <p:cNvPr id="3074" name="Picture 2" descr="El modelo en cascada en el desarrollo de software - IONOS">
            <a:extLst>
              <a:ext uri="{FF2B5EF4-FFF2-40B4-BE49-F238E27FC236}">
                <a16:creationId xmlns:a16="http://schemas.microsoft.com/office/drawing/2014/main" id="{836B65DA-6511-172A-6F92-246B45BE03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18" y="1872640"/>
            <a:ext cx="6873026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Ventajas</a:t>
            </a:r>
            <a:r>
              <a:rPr sz="4400" dirty="0"/>
              <a:t> de Cascada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6096995-20E3-06C3-200F-9CF462E4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829" y="1762124"/>
            <a:ext cx="4182355" cy="4301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Desventajas</a:t>
            </a:r>
            <a:r>
              <a:rPr sz="4400" dirty="0"/>
              <a:t> de Cascada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A5ADF3E-AA24-470A-F5D7-021244C54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304" y="1856462"/>
            <a:ext cx="4201405" cy="4391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¿</a:t>
            </a:r>
            <a:r>
              <a:rPr sz="4400" dirty="0" err="1"/>
              <a:t>Qué</a:t>
            </a:r>
            <a:r>
              <a:rPr sz="4400" dirty="0"/>
              <a:t> es la </a:t>
            </a:r>
            <a:r>
              <a:rPr sz="4400" dirty="0" err="1"/>
              <a:t>metodología</a:t>
            </a:r>
            <a:r>
              <a:rPr sz="4400" dirty="0"/>
              <a:t> </a:t>
            </a:r>
            <a:r>
              <a:rPr lang="es-SV" sz="4400" dirty="0"/>
              <a:t>Á</a:t>
            </a:r>
            <a:r>
              <a:rPr sz="4400" dirty="0" err="1"/>
              <a:t>gil</a:t>
            </a:r>
            <a:r>
              <a:rPr sz="4400" dirty="0"/>
              <a:t>?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337D19D-1AF3-B0C2-CBBD-863187827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/>
              <a:t>es un enfoque de gestión de proyectos y desarrollo de software basado en ciclos iterativos (</a:t>
            </a:r>
            <a:r>
              <a:rPr lang="es-ES" sz="2800" dirty="0" err="1"/>
              <a:t>sprints</a:t>
            </a:r>
            <a:r>
              <a:rPr lang="es-ES" sz="2800" dirty="0"/>
              <a:t>), colaboración estrecha con el cliente y flexibilidad ante los cambios</a:t>
            </a:r>
            <a:r>
              <a:rPr lang="es-ES" sz="2800" dirty="0">
                <a:effectLst/>
              </a:rPr>
              <a:t>.</a:t>
            </a:r>
            <a:endParaRPr lang="es-SV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Principios</a:t>
            </a:r>
            <a:r>
              <a:rPr sz="4400" dirty="0"/>
              <a:t> de </a:t>
            </a:r>
            <a:r>
              <a:rPr lang="es-SV" sz="4400" dirty="0"/>
              <a:t>Á</a:t>
            </a:r>
            <a:r>
              <a:rPr sz="4400" dirty="0" err="1"/>
              <a:t>gil</a:t>
            </a:r>
            <a:endParaRPr sz="44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15C2F8A-8263-F4A5-5550-572A1D0DB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3076" name="Picture 4" descr="Guía Metodologías Ágiles 2026 : Qué son - Valores - Principios -  VentajasPlain Concepts">
            <a:extLst>
              <a:ext uri="{FF2B5EF4-FFF2-40B4-BE49-F238E27FC236}">
                <a16:creationId xmlns:a16="http://schemas.microsoft.com/office/drawing/2014/main" id="{0A8913BF-C45B-1A9D-84BB-5D1DFE4B5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76" y="1732450"/>
            <a:ext cx="8454661" cy="4755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sz="4400" dirty="0"/>
              <a:t>Ventajas y Desventajas</a:t>
            </a:r>
            <a:endParaRPr sz="44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157AC5B-4625-7887-5438-F298D85AC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4098" name="Picture 2" descr="Agile vs Stage Gate: ventajas y retos de cada enfoque | Triskell">
            <a:extLst>
              <a:ext uri="{FF2B5EF4-FFF2-40B4-BE49-F238E27FC236}">
                <a16:creationId xmlns:a16="http://schemas.microsoft.com/office/drawing/2014/main" id="{3146C9AD-448D-E3ED-7701-B71B08AE1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92" y="1732450"/>
            <a:ext cx="8230230" cy="425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Comparación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sz="2800" dirty="0"/>
              <a:t>Cascada: </a:t>
            </a:r>
            <a:r>
              <a:rPr sz="2800" dirty="0" err="1"/>
              <a:t>rígida</a:t>
            </a:r>
            <a:r>
              <a:rPr sz="2800" dirty="0"/>
              <a:t> y </a:t>
            </a:r>
            <a:r>
              <a:rPr sz="2800" dirty="0" err="1"/>
              <a:t>secuencial</a:t>
            </a:r>
            <a:r>
              <a:rPr lang="es-SV" sz="2800" dirty="0"/>
              <a:t>.</a:t>
            </a:r>
          </a:p>
          <a:p>
            <a:pPr marL="36900" indent="0" algn="ctr">
              <a:buNone/>
            </a:pPr>
            <a:endParaRPr sz="2800" dirty="0"/>
          </a:p>
          <a:p>
            <a:pPr algn="ctr"/>
            <a:r>
              <a:rPr sz="2800" dirty="0" err="1"/>
              <a:t>Ágil</a:t>
            </a:r>
            <a:r>
              <a:rPr sz="2800" dirty="0"/>
              <a:t>: flexible e </a:t>
            </a:r>
            <a:r>
              <a:rPr sz="2800" dirty="0" err="1"/>
              <a:t>iterativa</a:t>
            </a:r>
            <a:r>
              <a:rPr lang="es-SV" sz="2800" dirty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¿</a:t>
            </a:r>
            <a:r>
              <a:rPr sz="4400" dirty="0" err="1"/>
              <a:t>Cuándo</a:t>
            </a:r>
            <a:r>
              <a:rPr sz="4400" dirty="0"/>
              <a:t> usar Cascada?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s-ES" sz="2800" dirty="0">
                <a:effectLst/>
              </a:rPr>
              <a:t> se debe utilizar </a:t>
            </a:r>
            <a:r>
              <a:rPr lang="es-ES" sz="2800" dirty="0"/>
              <a:t>en proyectos con requisitos </a:t>
            </a:r>
            <a:r>
              <a:rPr lang="es-ES" sz="2800" b="1" dirty="0">
                <a:effectLst/>
              </a:rPr>
              <a:t>claros, fijos y bien definidos</a:t>
            </a:r>
            <a:r>
              <a:rPr lang="es-ES" sz="2800" dirty="0"/>
              <a:t> desde el inicio, donde no se esperan cambios significativos durante el desarrollo</a:t>
            </a:r>
            <a:r>
              <a:rPr lang="es-ES" sz="2800" dirty="0">
                <a:effectLst/>
              </a:rPr>
              <a:t>.</a:t>
            </a:r>
            <a:endParaRPr sz="2800" dirty="0"/>
          </a:p>
        </p:txBody>
      </p:sp>
      <p:pic>
        <p:nvPicPr>
          <p:cNvPr id="5122" name="Picture 2" descr="Modelo cascada, qué es y cuándo conviene usarlo">
            <a:extLst>
              <a:ext uri="{FF2B5EF4-FFF2-40B4-BE49-F238E27FC236}">
                <a16:creationId xmlns:a16="http://schemas.microsoft.com/office/drawing/2014/main" id="{AD8846CE-AC34-37AB-9D41-E20A170F2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11" y="3785646"/>
            <a:ext cx="3796177" cy="246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¿</a:t>
            </a:r>
            <a:r>
              <a:rPr sz="4400" dirty="0" err="1"/>
              <a:t>Cuándo</a:t>
            </a:r>
            <a:r>
              <a:rPr sz="4400" dirty="0"/>
              <a:t> usar </a:t>
            </a:r>
            <a:r>
              <a:rPr sz="4400" dirty="0" err="1"/>
              <a:t>Ágil</a:t>
            </a:r>
            <a:r>
              <a:rPr sz="44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s-ES" sz="2800" dirty="0"/>
              <a:t>se debe usar en proyectos con alta incertidumbre, requisitos cambiantes o donde se necesite retroalimentación rápida del cliente</a:t>
            </a:r>
            <a:r>
              <a:rPr lang="es-ES" sz="2800" dirty="0">
                <a:effectLst/>
              </a:rPr>
              <a:t>, como en el desarrollo de software o nuevos productos.</a:t>
            </a:r>
            <a:endParaRPr sz="2800" dirty="0"/>
          </a:p>
        </p:txBody>
      </p:sp>
      <p:pic>
        <p:nvPicPr>
          <p:cNvPr id="6146" name="Picture 2" descr="Cómo aplicar la Metodología Ágil en la construcción? | KINENERGY">
            <a:extLst>
              <a:ext uri="{FF2B5EF4-FFF2-40B4-BE49-F238E27FC236}">
                <a16:creationId xmlns:a16="http://schemas.microsoft.com/office/drawing/2014/main" id="{7540DE87-1A01-F559-0908-BFACC4CC6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352" y="3584241"/>
            <a:ext cx="2977295" cy="291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Conclusión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sz="2800" dirty="0"/>
              <a:t>Ambas </a:t>
            </a:r>
            <a:r>
              <a:rPr sz="2800" dirty="0" err="1"/>
              <a:t>metodologías</a:t>
            </a:r>
            <a:r>
              <a:rPr sz="2800" dirty="0"/>
              <a:t> son </a:t>
            </a:r>
            <a:r>
              <a:rPr sz="2800" dirty="0" err="1"/>
              <a:t>útiles</a:t>
            </a:r>
            <a:endParaRPr sz="2800" dirty="0"/>
          </a:p>
          <a:p>
            <a:pPr algn="ctr"/>
            <a:r>
              <a:rPr sz="2800" dirty="0"/>
              <a:t>La </a:t>
            </a:r>
            <a:r>
              <a:rPr sz="2800" dirty="0" err="1"/>
              <a:t>elección</a:t>
            </a:r>
            <a:r>
              <a:rPr sz="2800" dirty="0"/>
              <a:t> </a:t>
            </a:r>
            <a:r>
              <a:rPr sz="2800" dirty="0" err="1"/>
              <a:t>depende</a:t>
            </a:r>
            <a:r>
              <a:rPr sz="2800" dirty="0"/>
              <a:t> del </a:t>
            </a:r>
            <a:r>
              <a:rPr sz="2800" dirty="0" err="1"/>
              <a:t>proyecto</a:t>
            </a:r>
            <a:endParaRPr sz="2800" dirty="0"/>
          </a:p>
          <a:p>
            <a:pPr algn="ctr"/>
            <a:r>
              <a:rPr sz="2800" dirty="0" err="1"/>
              <a:t>Ágil</a:t>
            </a:r>
            <a:r>
              <a:rPr sz="2800" dirty="0"/>
              <a:t> es la </a:t>
            </a:r>
            <a:r>
              <a:rPr sz="2800" dirty="0" err="1"/>
              <a:t>más</a:t>
            </a:r>
            <a:r>
              <a:rPr sz="2800" dirty="0"/>
              <a:t> </a:t>
            </a:r>
            <a:r>
              <a:rPr sz="2800" dirty="0" err="1"/>
              <a:t>utilizada</a:t>
            </a:r>
            <a:r>
              <a:rPr sz="2800" dirty="0"/>
              <a:t> hoy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229</TotalTime>
  <Words>200</Words>
  <Application>Microsoft Office PowerPoint</Application>
  <PresentationFormat>Presentación en pantalla (4:3)</PresentationFormat>
  <Paragraphs>23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Calisto MT</vt:lpstr>
      <vt:lpstr>Wingdings 2</vt:lpstr>
      <vt:lpstr>Pizarra</vt:lpstr>
      <vt:lpstr>Metodologías de Desarrollo de Software</vt:lpstr>
      <vt:lpstr>¿Qué es la metodología Cascada?</vt:lpstr>
      <vt:lpstr>Fases de la Metodología Cascada</vt:lpstr>
      <vt:lpstr>Ventajas de Cascada</vt:lpstr>
      <vt:lpstr>Desventajas de Cascada</vt:lpstr>
      <vt:lpstr>¿Qué es la metodología Ágil?</vt:lpstr>
      <vt:lpstr>Principios de Ágil</vt:lpstr>
      <vt:lpstr>Ventajas y Desventajas</vt:lpstr>
      <vt:lpstr>Comparación</vt:lpstr>
      <vt:lpstr>¿Cuándo usar Cascada?</vt:lpstr>
      <vt:lpstr>¿Cuándo usar Ágil?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Mendez Emanuel</cp:lastModifiedBy>
  <cp:revision>3</cp:revision>
  <dcterms:created xsi:type="dcterms:W3CDTF">2013-01-27T09:14:16Z</dcterms:created>
  <dcterms:modified xsi:type="dcterms:W3CDTF">2026-02-23T16:43:03Z</dcterms:modified>
  <cp:category/>
</cp:coreProperties>
</file>