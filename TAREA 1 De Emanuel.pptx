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8E721-CDF3-4CBF-A8A5-54F06437D980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SV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B02D39-C703-4B8F-BB53-94DDDDC7F62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6167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B02D39-C703-4B8F-BB53-94DDDDC7F629}" type="slidenum">
              <a:rPr lang="es-SV" smtClean="0"/>
              <a:t>2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1163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8447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4282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22915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7043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71639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7424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5827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246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84072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4070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61651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288987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670199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66762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98960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57517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7015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36083D8-9989-43FD-88CF-15672E913422}" type="datetimeFigureOut">
              <a:rPr lang="es-SV" smtClean="0"/>
              <a:t>17/2/2026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24A79A9-322C-4391-BD1C-79453BA823EB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06422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google.com/search?sca_esv=be849326a0031e5c&amp;rlz=1C1UUXU_esSV973SV973&amp;sxsrf=ANbL-n6CtBm91m1lLY7sYbNYT_QEDoh2ww%3A1770817165135&amp;q=Sistemas+de+Dise%C3%B1o+Visual&amp;source=lnms&amp;fbs=ADc_l-bpk8W4E-qsVlOvbGJcDwpn60DczFdcvPnuv8WQohHLTaf9fS4tJ71bi2aHS-Pmeg3gf3Rx3g7wPLd9qB5u5EuZXoZo2d7wQaRAN2wf-oF78RIhzVNjyHr-35Q1TzYJVgyoRc1bWArZ1j-81A_NY_dJrmSfMhUv6awMow4higBfSsg3g97SEMQWHSAJJsFcqrA1IpAw&amp;sa=X&amp;ved=2ahUKEwi_zqqDyNGSAxWHSjABHeEDFvgQgK4QegQIAxAB&amp;biw=1366&amp;bih=633&amp;dpr=1&amp;mstk=AUtExfC9wjA3Ba1LayEyH5MJ-lIMDwnvdWvpFQJpfW6usLj2BwcTX152m7HSb8PwQDaqKST81mFw65BHD0pUEfMojzGWlHu3wXmBPGQDzbCpT-F9JFxuCBaJebS26M5r7cW16e6AZU7oESDHkqvmghbCqtSFEAkvpcx0RMwFnx_1SJG-GS3yR1hPyYMyawKHDAUJWyBjlvCegGOJFq7zNTIsu5D5h0ahePLdnfXiJRTtlMgPXvDc1twoBZUpnMjBlhKQ3i6Net9WQ9vGEdIZ0nSxBufRSm7T_g6pkuda2XaInk6tvA&amp;csui=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google.com/search?sca_esv=be849326a0031e5c&amp;rlz=1C1UUXU_esSV973SV973&amp;sxsrf=ANbL-n6CtBm91m1lLY7sYbNYT_QEDoh2ww%3A1770817165135&amp;q=Bibliotecas+de+Componentes&amp;source=lnms&amp;fbs=ADc_l-bpk8W4E-qsVlOvbGJcDwpn60DczFdcvPnuv8WQohHLTaf9fS4tJ71bi2aHS-Pmeg3gf3Rx3g7wPLd9qB5u5EuZXoZo2d7wQaRAN2wf-oF78RIhzVNjyHr-35Q1TzYJVgyoRc1bWArZ1j-81A_NY_dJrmSfMhUv6awMow4higBfSsg3g97SEMQWHSAJJsFcqrA1IpAw&amp;sa=X&amp;ved=2ahUKEwi_zqqDyNGSAxWHSjABHeEDFvgQgK4QegQIAxAD&amp;biw=1366&amp;bih=633&amp;dpr=1&amp;mstk=AUtExfC9wjA3Ba1LayEyH5MJ-lIMDwnvdWvpFQJpfW6usLj2BwcTX152m7HSb8PwQDaqKST81mFw65BHD0pUEfMojzGWlHu3wXmBPGQDzbCpT-F9JFxuCBaJebS26M5r7cW16e6AZU7oESDHkqvmghbCqtSFEAkvpcx0RMwFnx_1SJG-GS3yR1hPyYMyawKHDAUJWyBjlvCegGOJFq7zNTIsu5D5h0ahePLdnfXiJRTtlMgPXvDc1twoBZUpnMjBlhKQ3i6Net9WQ9vGEdIZ0nSxBufRSm7T_g6pkuda2XaInk6tvA&amp;csui=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google.com/search?sca_esv=be849326a0031e5c&amp;rlz=1C1UUXU_esSV973SV973&amp;sxsrf=ANbL-n6CtBm91m1lLY7sYbNYT_QEDoh2ww%3A1770817165135&amp;q=Bibliotecas+de+Patrones&amp;source=lnms&amp;fbs=ADc_l-bpk8W4E-qsVlOvbGJcDwpn60DczFdcvPnuv8WQohHLTaf9fS4tJ71bi2aHS-Pmeg3gf3Rx3g7wPLd9qB5u5EuZXoZo2d7wQaRAN2wf-oF78RIhzVNjyHr-35Q1TzYJVgyoRc1bWArZ1j-81A_NY_dJrmSfMhUv6awMow4higBfSsg3g97SEMQWHSAJJsFcqrA1IpAw&amp;sa=X&amp;ved=2ahUKEwi_zqqDyNGSAxWHSjABHeEDFvgQgK4QegQIAxAF&amp;biw=1366&amp;bih=633&amp;dpr=1&amp;mstk=AUtExfC9wjA3Ba1LayEyH5MJ-lIMDwnvdWvpFQJpfW6usLj2BwcTX152m7HSb8PwQDaqKST81mFw65BHD0pUEfMojzGWlHu3wXmBPGQDzbCpT-F9JFxuCBaJebS26M5r7cW16e6AZU7oESDHkqvmghbCqtSFEAkvpcx0RMwFnx_1SJG-GS3yR1hPyYMyawKHDAUJWyBjlvCegGOJFq7zNTIsu5D5h0ahePLdnfXiJRTtlMgPXvDc1twoBZUpnMjBlhKQ3i6Net9WQ9vGEdIZ0nSxBufRSm7T_g6pkuda2XaInk6tvA&amp;csui=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google.com/search?sca_esv=be849326a0031e5c&amp;rlz=1C1UUXU_esSV973SV973&amp;sxsrf=ANbL-n6CtBm91m1lLY7sYbNYT_QEDoh2ww%3A1770817165135&amp;q=Marcos+Establecidos+o+%22Full+Stack%22&amp;source=lnms&amp;fbs=ADc_l-bpk8W4E-qsVlOvbGJcDwpn60DczFdcvPnuv8WQohHLTaf9fS4tJ71bi2aHS-Pmeg3gf3Rx3g7wPLd9qB5u5EuZXoZo2d7wQaRAN2wf-oF78RIhzVNjyHr-35Q1TzYJVgyoRc1bWArZ1j-81A_NY_dJrmSfMhUv6awMow4higBfSsg3g97SEMQWHSAJJsFcqrA1IpAw&amp;sa=X&amp;ved=2ahUKEwi_zqqDyNGSAxWHSjABHeEDFvgQgK4QegQIAxAH&amp;biw=1366&amp;bih=633&amp;dpr=1&amp;mstk=AUtExfC9wjA3Ba1LayEyH5MJ-lIMDwnvdWvpFQJpfW6usLj2BwcTX152m7HSb8PwQDaqKST81mFw65BHD0pUEfMojzGWlHu3wXmBPGQDzbCpT-F9JFxuCBaJebS26M5r7cW16e6AZU7oESDHkqvmghbCqtSFEAkvpcx0RMwFnx_1SJG-GS3yR1hPyYMyawKHDAUJWyBjlvCegGOJFq7zNTIsu5D5h0ahePLdnfXiJRTtlMgPXvDc1twoBZUpnMjBlhKQ3i6Net9WQ9vGEdIZ0nSxBufRSm7T_g6pkuda2XaInk6tvA&amp;csui=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3D270-2213-841A-A089-61E6BD437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432037"/>
            <a:ext cx="8676222" cy="1223963"/>
          </a:xfrm>
        </p:spPr>
        <p:txBody>
          <a:bodyPr/>
          <a:lstStyle/>
          <a:p>
            <a:r>
              <a:rPr lang="es-ES" dirty="0"/>
              <a:t>DISEÑOS DE SISTEMAS</a:t>
            </a:r>
            <a:endParaRPr lang="es-SV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F604D-26B7-0D46-8C96-F72AFD435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1871663"/>
            <a:ext cx="8676222" cy="4386262"/>
          </a:xfrm>
        </p:spPr>
        <p:txBody>
          <a:bodyPr/>
          <a:lstStyle/>
          <a:p>
            <a:endParaRPr lang="es-SV" dirty="0"/>
          </a:p>
        </p:txBody>
      </p:sp>
      <p:pic>
        <p:nvPicPr>
          <p:cNvPr id="1030" name="Picture 6" descr="Qué es un sistema de diseño y cómo puedo usarlo en mis proyectos digitales?  | Domestika">
            <a:extLst>
              <a:ext uri="{FF2B5EF4-FFF2-40B4-BE49-F238E27FC236}">
                <a16:creationId xmlns:a16="http://schemas.microsoft.com/office/drawing/2014/main" id="{EBF7A7EE-274C-45D5-8101-3A352EE71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023" y="2238375"/>
            <a:ext cx="4648200" cy="343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2" descr="Descargar fondos de Divertidomeme De Naruto Para Foto De Perfil |  Wallpapers.com">
            <a:extLst>
              <a:ext uri="{FF2B5EF4-FFF2-40B4-BE49-F238E27FC236}">
                <a16:creationId xmlns:a16="http://schemas.microsoft.com/office/drawing/2014/main" id="{A4498634-B2B5-2108-D0E4-72773E895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9187" cy="111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Descargar fondos de Divertidomeme De Naruto Para Foto De Perfil |  Wallpapers.com">
            <a:extLst>
              <a:ext uri="{FF2B5EF4-FFF2-40B4-BE49-F238E27FC236}">
                <a16:creationId xmlns:a16="http://schemas.microsoft.com/office/drawing/2014/main" id="{792C9CC1-AEE1-A8B8-9D9F-38A19AC5B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2813" y="0"/>
            <a:ext cx="1119187" cy="111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490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F193EB-FE6E-3E8D-9581-E405CD808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642938"/>
            <a:ext cx="9905998" cy="5572125"/>
          </a:xfrm>
        </p:spPr>
        <p:txBody>
          <a:bodyPr>
            <a:normAutofit/>
          </a:bodyPr>
          <a:lstStyle/>
          <a:p>
            <a:pPr algn="ctr"/>
            <a:r>
              <a:rPr lang="es-ES" sz="4400" dirty="0"/>
              <a:t>¿Qué son los diseños de sistema?</a:t>
            </a:r>
          </a:p>
          <a:p>
            <a:pPr marL="0" indent="0" algn="ctr">
              <a:buNone/>
            </a:pPr>
            <a:r>
              <a:rPr lang="es-ES" sz="2800" dirty="0"/>
              <a:t>LOS </a:t>
            </a:r>
            <a:r>
              <a:rPr lang="es-ES" sz="3600" dirty="0"/>
              <a:t>diseño de sistemas es el proceso de definir la arquitectura, módulos, componentes, interfaces y datos de un sistema para satisfacer requisitos específicos, transformando conceptos en estructuras de software funcionales</a:t>
            </a:r>
            <a:r>
              <a:rPr lang="es-ES" dirty="0"/>
              <a:t>. </a:t>
            </a:r>
            <a:endParaRPr lang="es-SV" sz="3600" dirty="0"/>
          </a:p>
        </p:txBody>
      </p:sp>
    </p:spTree>
    <p:extLst>
      <p:ext uri="{BB962C8B-B14F-4D97-AF65-F5344CB8AC3E}">
        <p14:creationId xmlns:p14="http://schemas.microsoft.com/office/powerpoint/2010/main" val="166483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8D621-D3B5-1D65-83C2-6D3BB06E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42938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s-ES" sz="4400" dirty="0"/>
              <a:t>PRINCIPALES TIPOS DE SISTEMAS DE DISEÑO</a:t>
            </a:r>
            <a:endParaRPr lang="es-SV" sz="4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13ED49-3080-0BC3-9A91-427777BEE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17" y="2395536"/>
            <a:ext cx="5847895" cy="3662363"/>
          </a:xfrm>
        </p:spPr>
        <p:txBody>
          <a:bodyPr>
            <a:normAutofit/>
          </a:bodyPr>
          <a:lstStyle/>
          <a:p>
            <a:r>
              <a:rPr lang="es-ES" sz="2800" b="1" dirty="0">
                <a:effectLst/>
                <a:hlinkClick r:id="rId2"/>
              </a:rPr>
              <a:t>Sistemas de Diseño Visual</a:t>
            </a:r>
            <a:r>
              <a:rPr lang="es-ES" sz="2800" b="1" dirty="0">
                <a:effectLst/>
              </a:rPr>
              <a:t>: </a:t>
            </a:r>
            <a:r>
              <a:rPr lang="es-ES" sz="2800" dirty="0">
                <a:effectLst/>
              </a:rPr>
              <a:t>Enfocados en la estética, paletas de colores, tipografía y elementos de marca.</a:t>
            </a:r>
          </a:p>
          <a:p>
            <a:endParaRPr lang="es-SV" dirty="0"/>
          </a:p>
        </p:txBody>
      </p:sp>
      <p:pic>
        <p:nvPicPr>
          <p:cNvPr id="2050" name="Picture 2" descr="Sistema visual en branding y marketing: El secreto para marcas coherentes y  memorables">
            <a:extLst>
              <a:ext uri="{FF2B5EF4-FFF2-40B4-BE49-F238E27FC236}">
                <a16:creationId xmlns:a16="http://schemas.microsoft.com/office/drawing/2014/main" id="{B740E03F-D9F3-786A-53ED-E0176CBD3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049" y="2662235"/>
            <a:ext cx="5587434" cy="312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80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F0DB76-51E7-D7CA-E976-B646283EB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20638"/>
            <a:ext cx="9905998" cy="3124201"/>
          </a:xfrm>
        </p:spPr>
        <p:txBody>
          <a:bodyPr/>
          <a:lstStyle/>
          <a:p>
            <a:r>
              <a:rPr lang="es-SV" sz="2800" b="1" dirty="0">
                <a:effectLst/>
                <a:hlinkClick r:id="rId2"/>
              </a:rPr>
              <a:t>Bibliotecas de Componentes</a:t>
            </a:r>
            <a:r>
              <a:rPr lang="es-SV" sz="2800" b="1" dirty="0">
                <a:effectLst/>
              </a:rPr>
              <a:t>:</a:t>
            </a:r>
            <a:r>
              <a:rPr lang="es-SV" sz="2800" dirty="0">
                <a:effectLst/>
              </a:rPr>
              <a:t> Colecciones de elementos de interfaz de usuario (UI) codificados (botones, formularios) para implementación directa.</a:t>
            </a:r>
          </a:p>
          <a:p>
            <a:endParaRPr lang="es-SV" dirty="0"/>
          </a:p>
        </p:txBody>
      </p:sp>
      <p:pic>
        <p:nvPicPr>
          <p:cNvPr id="3076" name="Picture 4" descr="Bibliotecas de Componentes React UI: Mejores Opciones 2025">
            <a:extLst>
              <a:ext uri="{FF2B5EF4-FFF2-40B4-BE49-F238E27FC236}">
                <a16:creationId xmlns:a16="http://schemas.microsoft.com/office/drawing/2014/main" id="{F8877F27-8C8E-AEF6-6104-277CBA901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668" y="2597397"/>
            <a:ext cx="7586663" cy="371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028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230405-6F4C-0932-6CBE-3A72EF402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6780"/>
            <a:ext cx="6291262" cy="5024439"/>
          </a:xfrm>
        </p:spPr>
        <p:txBody>
          <a:bodyPr>
            <a:normAutofit/>
          </a:bodyPr>
          <a:lstStyle/>
          <a:p>
            <a:r>
              <a:rPr lang="es-SV" sz="2800" b="1" dirty="0">
                <a:effectLst/>
              </a:rPr>
              <a:t>Sistemas gráficos: </a:t>
            </a:r>
            <a:r>
              <a:rPr lang="es-ES" sz="2800" dirty="0"/>
              <a:t>es un conjunto estructurado y normalizado de elementos visuales (tipografía, color, imágenes, formas) que garantizan la coherencia estética y funcional de una marca en todos sus puntos de contacto</a:t>
            </a:r>
            <a:endParaRPr lang="es-SV" sz="2800" dirty="0"/>
          </a:p>
        </p:txBody>
      </p:sp>
      <p:pic>
        <p:nvPicPr>
          <p:cNvPr id="4098" name="Picture 2" descr="SISTEMA GRÁFICO">
            <a:extLst>
              <a:ext uri="{FF2B5EF4-FFF2-40B4-BE49-F238E27FC236}">
                <a16:creationId xmlns:a16="http://schemas.microsoft.com/office/drawing/2014/main" id="{C73CC224-CB41-8B0A-42D7-53D0574D3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037" y="423836"/>
            <a:ext cx="4200525" cy="601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76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9027-B8D8-57EE-872F-C0B91D921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1" y="204788"/>
            <a:ext cx="4657724" cy="6448424"/>
          </a:xfrm>
        </p:spPr>
        <p:txBody>
          <a:bodyPr/>
          <a:lstStyle/>
          <a:p>
            <a:r>
              <a:rPr lang="es-ES" sz="2800" b="1" dirty="0">
                <a:effectLst/>
                <a:hlinkClick r:id="rId2"/>
              </a:rPr>
              <a:t>Bibliotecas de Patrones</a:t>
            </a:r>
            <a:r>
              <a:rPr lang="es-ES" sz="2800" b="1" dirty="0">
                <a:effectLst/>
              </a:rPr>
              <a:t>:</a:t>
            </a:r>
            <a:r>
              <a:rPr lang="es-ES" sz="2800" dirty="0">
                <a:effectLst/>
              </a:rPr>
              <a:t> Documentan soluciones reutilizables para problemas de interacción y experiencia de usuario (UX).</a:t>
            </a:r>
          </a:p>
          <a:p>
            <a:endParaRPr lang="es-SV" dirty="0"/>
          </a:p>
        </p:txBody>
      </p:sp>
      <p:pic>
        <p:nvPicPr>
          <p:cNvPr id="5122" name="Picture 2" descr="Biblioteca de patrones de Illustrator: conjunto grande de secciones  transversales de pared">
            <a:extLst>
              <a:ext uri="{FF2B5EF4-FFF2-40B4-BE49-F238E27FC236}">
                <a16:creationId xmlns:a16="http://schemas.microsoft.com/office/drawing/2014/main" id="{03BD833E-9E33-4A46-2922-C1B9F7DB4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819150"/>
            <a:ext cx="4914899" cy="491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Naruto Memes Wallpapers - Wallpaper Cave">
            <a:extLst>
              <a:ext uri="{FF2B5EF4-FFF2-40B4-BE49-F238E27FC236}">
                <a16:creationId xmlns:a16="http://schemas.microsoft.com/office/drawing/2014/main" id="{01FCFF5A-BCE3-8487-86E5-C37218701E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6951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B56E27-A310-DF1F-0C91-AD7D1552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064" y="114300"/>
            <a:ext cx="7576344" cy="3314700"/>
          </a:xfrm>
        </p:spPr>
        <p:txBody>
          <a:bodyPr>
            <a:normAutofit/>
          </a:bodyPr>
          <a:lstStyle/>
          <a:p>
            <a:r>
              <a:rPr lang="es-SV" sz="2800" b="1" dirty="0">
                <a:effectLst/>
                <a:hlinkClick r:id="rId2"/>
              </a:rPr>
              <a:t>Marcos Establecidos o "Full </a:t>
            </a:r>
            <a:r>
              <a:rPr lang="es-SV" sz="2800" b="1" dirty="0" err="1">
                <a:effectLst/>
                <a:hlinkClick r:id="rId2"/>
              </a:rPr>
              <a:t>Stack</a:t>
            </a:r>
            <a:r>
              <a:rPr lang="es-SV" sz="2800" b="1" dirty="0">
                <a:effectLst/>
                <a:hlinkClick r:id="rId2"/>
              </a:rPr>
              <a:t>"</a:t>
            </a:r>
            <a:r>
              <a:rPr lang="es-SV" sz="2800" b="1" dirty="0">
                <a:effectLst/>
              </a:rPr>
              <a:t>:</a:t>
            </a:r>
            <a:r>
              <a:rPr lang="es-SV" sz="2800" dirty="0">
                <a:effectLst/>
              </a:rPr>
              <a:t> Sistemas completos que incluyen principios, tokens, componentes, código y pautas de gobernanza.</a:t>
            </a:r>
            <a:endParaRPr lang="es-SV" sz="2800" dirty="0"/>
          </a:p>
        </p:txBody>
      </p:sp>
      <p:pic>
        <p:nvPicPr>
          <p:cNvPr id="6146" name="Picture 2" descr="Qué es Fullstack y por qué debería ser tu próxima meta profesional?">
            <a:extLst>
              <a:ext uri="{FF2B5EF4-FFF2-40B4-BE49-F238E27FC236}">
                <a16:creationId xmlns:a16="http://schemas.microsoft.com/office/drawing/2014/main" id="{2F094459-C7A1-98F6-B2DE-8DA513BD6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73" y="2814637"/>
            <a:ext cx="6334125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55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89DA9-F465-4DC9-A6C6-08141152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400" dirty="0"/>
              <a:t>tipos de sistemas</a:t>
            </a:r>
            <a:endParaRPr lang="es-SV" sz="4400" dirty="0"/>
          </a:p>
        </p:txBody>
      </p:sp>
      <p:pic>
        <p:nvPicPr>
          <p:cNvPr id="2050" name="Picture 2" descr="💥Open, Closed, and Isolated Systems💥 [Easy and Fast] | BIOLOGY | PHYSICS  | - YouTube">
            <a:extLst>
              <a:ext uri="{FF2B5EF4-FFF2-40B4-BE49-F238E27FC236}">
                <a16:creationId xmlns:a16="http://schemas.microsoft.com/office/drawing/2014/main" id="{6F66BAF0-72B5-43A8-BDD5-7E5027FB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409" y="2502142"/>
            <a:ext cx="6554006" cy="368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820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7F83E-A04B-4827-B8EB-39D24BE52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4356" y="273505"/>
            <a:ext cx="5983287" cy="3276600"/>
          </a:xfrm>
        </p:spPr>
        <p:txBody>
          <a:bodyPr>
            <a:normAutofit/>
          </a:bodyPr>
          <a:lstStyle/>
          <a:p>
            <a:r>
              <a:rPr lang="es-ES" sz="2800" b="1" i="0" dirty="0">
                <a:solidFill>
                  <a:srgbClr val="FEE8D8"/>
                </a:solidFill>
                <a:effectLst/>
                <a:latin typeface="Google Sans"/>
              </a:rPr>
              <a:t>Sistemas Abiertos</a:t>
            </a:r>
            <a:r>
              <a:rPr lang="es-ES" sz="2800" b="1" i="0" dirty="0">
                <a:solidFill>
                  <a:srgbClr val="E6E8F0"/>
                </a:solidFill>
                <a:effectLst/>
                <a:latin typeface="Google Sans"/>
              </a:rPr>
              <a:t>:</a:t>
            </a:r>
            <a:r>
              <a:rPr lang="es-ES" sz="2800" b="0" i="0" dirty="0">
                <a:solidFill>
                  <a:srgbClr val="E6E8F0"/>
                </a:solidFill>
                <a:effectLst/>
                <a:latin typeface="Google Sans"/>
              </a:rPr>
              <a:t> Son aquellos que intercambian libremente materia, energía o información con su entorno, como los seres vivos, los ecosistemas o una empresa.</a:t>
            </a:r>
          </a:p>
        </p:txBody>
      </p:sp>
      <p:pic>
        <p:nvPicPr>
          <p:cNvPr id="1026" name="Picture 2" descr="Sistema abierto - Wikipedia, la enciclopedia libre">
            <a:extLst>
              <a:ext uri="{FF2B5EF4-FFF2-40B4-BE49-F238E27FC236}">
                <a16:creationId xmlns:a16="http://schemas.microsoft.com/office/drawing/2014/main" id="{4589D6FE-EB13-4AC2-9486-10BF6CA46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60" y="3429000"/>
            <a:ext cx="4754878" cy="3061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753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2553C7-3E26-466D-BB3D-DC00AF22D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444304"/>
            <a:ext cx="9905998" cy="3124201"/>
          </a:xfrm>
        </p:spPr>
        <p:txBody>
          <a:bodyPr/>
          <a:lstStyle/>
          <a:p>
            <a:r>
              <a:rPr lang="es-ES" sz="2800" b="1" i="0" dirty="0">
                <a:solidFill>
                  <a:srgbClr val="E6E8F0"/>
                </a:solidFill>
                <a:effectLst/>
                <a:latin typeface="Google Sans"/>
              </a:rPr>
              <a:t>Sistemas Cerrados:</a:t>
            </a:r>
            <a:r>
              <a:rPr lang="es-ES" sz="2800" b="0" i="0" dirty="0">
                <a:solidFill>
                  <a:srgbClr val="E6E8F0"/>
                </a:solidFill>
                <a:effectLst/>
                <a:latin typeface="Google Sans"/>
              </a:rPr>
              <a:t> Tienen una comunicación limitada o nula con su entorno, lo que significa que el ingreso y salida de información o energía está restringido o es nulo. Un ejemplo es un reloj mecánico.</a:t>
            </a:r>
          </a:p>
          <a:p>
            <a:endParaRPr lang="es-SV" dirty="0"/>
          </a:p>
        </p:txBody>
      </p:sp>
      <p:pic>
        <p:nvPicPr>
          <p:cNvPr id="3074" name="Picture 2" descr="Glosario de Física y Química: Sistema cerrado">
            <a:extLst>
              <a:ext uri="{FF2B5EF4-FFF2-40B4-BE49-F238E27FC236}">
                <a16:creationId xmlns:a16="http://schemas.microsoft.com/office/drawing/2014/main" id="{C6762B8B-3BBA-43ED-8002-657784A7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684" y="3195946"/>
            <a:ext cx="4460631" cy="294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79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D76CAC-DDEB-468D-9A3A-41F98EBCF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304799"/>
            <a:ext cx="9905998" cy="3124201"/>
          </a:xfrm>
        </p:spPr>
        <p:txBody>
          <a:bodyPr>
            <a:normAutofit/>
          </a:bodyPr>
          <a:lstStyle/>
          <a:p>
            <a:r>
              <a:rPr lang="es-ES" sz="2800" b="1" i="0" dirty="0">
                <a:solidFill>
                  <a:srgbClr val="E6E8F0"/>
                </a:solidFill>
                <a:effectLst/>
                <a:latin typeface="Google Sans"/>
              </a:rPr>
              <a:t>Sistemas Aislados: </a:t>
            </a:r>
            <a:r>
              <a:rPr lang="es-ES" sz="2800" dirty="0"/>
              <a:t>concepto teórico en física y termodinámica que describe un sistema que no intercambia ni materia ni energía (calor o trabajo) con su entorno</a:t>
            </a:r>
            <a:r>
              <a:rPr lang="es-ES" sz="2800" b="0" i="0" dirty="0">
                <a:solidFill>
                  <a:srgbClr val="E6E8F0"/>
                </a:solidFill>
                <a:effectLst/>
                <a:latin typeface="Google Sans"/>
              </a:rPr>
              <a:t>.</a:t>
            </a:r>
            <a:endParaRPr lang="es-SV" sz="2800" dirty="0"/>
          </a:p>
        </p:txBody>
      </p:sp>
      <p:pic>
        <p:nvPicPr>
          <p:cNvPr id="4098" name="Picture 2" descr="Sistemas Termodinámicos | Salud, Nutrición Y Deporte">
            <a:extLst>
              <a:ext uri="{FF2B5EF4-FFF2-40B4-BE49-F238E27FC236}">
                <a16:creationId xmlns:a16="http://schemas.microsoft.com/office/drawing/2014/main" id="{65C37A0C-ADA1-4B48-A4D2-A540F566F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802" y="2719389"/>
            <a:ext cx="5888396" cy="383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723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90</TotalTime>
  <Words>273</Words>
  <Application>Microsoft Office PowerPoint</Application>
  <PresentationFormat>Panorámica</PresentationFormat>
  <Paragraphs>14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Google Sans</vt:lpstr>
      <vt:lpstr>Malla</vt:lpstr>
      <vt:lpstr>DISEÑOS DE SISTEMAS</vt:lpstr>
      <vt:lpstr>Presentación de PowerPoint</vt:lpstr>
      <vt:lpstr>PRINCIPALES TIPOS DE SISTEMAS DE DISEÑO</vt:lpstr>
      <vt:lpstr>Presentación de PowerPoint</vt:lpstr>
      <vt:lpstr>Presentación de PowerPoint</vt:lpstr>
      <vt:lpstr>Presentación de PowerPoint</vt:lpstr>
      <vt:lpstr>Presentación de PowerPoint</vt:lpstr>
      <vt:lpstr>tipos de sistemas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DISEÑOS DE SISTEMAS</dc:title>
  <dc:creator>JUAN castro</dc:creator>
  <cp:lastModifiedBy>Mendez Emanuel</cp:lastModifiedBy>
  <cp:revision>5</cp:revision>
  <dcterms:created xsi:type="dcterms:W3CDTF">2026-02-11T13:33:29Z</dcterms:created>
  <dcterms:modified xsi:type="dcterms:W3CDTF">2026-02-17T14:01:18Z</dcterms:modified>
</cp:coreProperties>
</file>