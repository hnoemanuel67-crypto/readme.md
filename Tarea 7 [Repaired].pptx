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90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dez Emanuel" userId="5fdff22fa55e16ae" providerId="LiveId" clId="{DF64C479-968C-43CE-B31E-AE0A3129AFEF}"/>
    <pc:docChg chg="undo custSel addSld delSld modSld">
      <pc:chgData name="Mendez Emanuel" userId="5fdff22fa55e16ae" providerId="LiveId" clId="{DF64C479-968C-43CE-B31E-AE0A3129AFEF}" dt="2026-05-11T02:03:02.630" v="63" actId="255"/>
      <pc:docMkLst>
        <pc:docMk/>
      </pc:docMkLst>
      <pc:sldChg chg="modSp mod">
        <pc:chgData name="Mendez Emanuel" userId="5fdff22fa55e16ae" providerId="LiveId" clId="{DF64C479-968C-43CE-B31E-AE0A3129AFEF}" dt="2026-05-11T01:54:27.584" v="3" actId="255"/>
        <pc:sldMkLst>
          <pc:docMk/>
          <pc:sldMk cId="0" sldId="256"/>
        </pc:sldMkLst>
        <pc:spChg chg="mod">
          <ac:chgData name="Mendez Emanuel" userId="5fdff22fa55e16ae" providerId="LiveId" clId="{DF64C479-968C-43CE-B31E-AE0A3129AFEF}" dt="2026-05-11T01:54:27.584" v="3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1:54:15.192" v="1" actId="1076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Mendez Emanuel" userId="5fdff22fa55e16ae" providerId="LiveId" clId="{DF64C479-968C-43CE-B31E-AE0A3129AFEF}" dt="2026-05-11T01:56:23.942" v="10" actId="1076"/>
        <pc:sldMkLst>
          <pc:docMk/>
          <pc:sldMk cId="0" sldId="257"/>
        </pc:sldMkLst>
        <pc:spChg chg="mod">
          <ac:chgData name="Mendez Emanuel" userId="5fdff22fa55e16ae" providerId="LiveId" clId="{DF64C479-968C-43CE-B31E-AE0A3129AFEF}" dt="2026-05-11T01:54:49.031" v="5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1:54:56.098" v="6" actId="1076"/>
          <ac:spMkLst>
            <pc:docMk/>
            <pc:sldMk cId="0" sldId="257"/>
            <ac:spMk id="6" creationId="{00000000-0000-0000-0000-000000000000}"/>
          </ac:spMkLst>
        </pc:spChg>
        <pc:picChg chg="mod">
          <ac:chgData name="Mendez Emanuel" userId="5fdff22fa55e16ae" providerId="LiveId" clId="{DF64C479-968C-43CE-B31E-AE0A3129AFEF}" dt="2026-05-11T01:56:23.942" v="10" actId="1076"/>
          <ac:picMkLst>
            <pc:docMk/>
            <pc:sldMk cId="0" sldId="257"/>
            <ac:picMk id="23" creationId="{00000000-0000-0000-0000-000000000000}"/>
          </ac:picMkLst>
        </pc:picChg>
      </pc:sldChg>
      <pc:sldChg chg="modSp mod">
        <pc:chgData name="Mendez Emanuel" userId="5fdff22fa55e16ae" providerId="LiveId" clId="{DF64C479-968C-43CE-B31E-AE0A3129AFEF}" dt="2026-05-11T01:55:19.092" v="7" actId="255"/>
        <pc:sldMkLst>
          <pc:docMk/>
          <pc:sldMk cId="0" sldId="258"/>
        </pc:sldMkLst>
        <pc:spChg chg="mod">
          <ac:chgData name="Mendez Emanuel" userId="5fdff22fa55e16ae" providerId="LiveId" clId="{DF64C479-968C-43CE-B31E-AE0A3129AFEF}" dt="2026-05-11T01:55:19.092" v="7" actId="255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Mendez Emanuel" userId="5fdff22fa55e16ae" providerId="LiveId" clId="{DF64C479-968C-43CE-B31E-AE0A3129AFEF}" dt="2026-05-11T01:56:37.907" v="12" actId="1076"/>
        <pc:sldMkLst>
          <pc:docMk/>
          <pc:sldMk cId="0" sldId="259"/>
        </pc:sldMkLst>
        <pc:spChg chg="mod">
          <ac:chgData name="Mendez Emanuel" userId="5fdff22fa55e16ae" providerId="LiveId" clId="{DF64C479-968C-43CE-B31E-AE0A3129AFEF}" dt="2026-05-11T01:55:27.297" v="8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1:56:37.907" v="12" actId="1076"/>
          <ac:spMkLst>
            <pc:docMk/>
            <pc:sldMk cId="0" sldId="259"/>
            <ac:spMk id="40" creationId="{00000000-0000-0000-0000-000000000000}"/>
          </ac:spMkLst>
        </pc:spChg>
        <pc:picChg chg="mod">
          <ac:chgData name="Mendez Emanuel" userId="5fdff22fa55e16ae" providerId="LiveId" clId="{DF64C479-968C-43CE-B31E-AE0A3129AFEF}" dt="2026-05-11T01:56:08.187" v="9" actId="1076"/>
          <ac:picMkLst>
            <pc:docMk/>
            <pc:sldMk cId="0" sldId="259"/>
            <ac:picMk id="39" creationId="{00000000-0000-0000-0000-000000000000}"/>
          </ac:picMkLst>
        </pc:picChg>
      </pc:sldChg>
      <pc:sldChg chg="delSp modSp mod">
        <pc:chgData name="Mendez Emanuel" userId="5fdff22fa55e16ae" providerId="LiveId" clId="{DF64C479-968C-43CE-B31E-AE0A3129AFEF}" dt="2026-05-11T01:58:19.596" v="29" actId="255"/>
        <pc:sldMkLst>
          <pc:docMk/>
          <pc:sldMk cId="0" sldId="260"/>
        </pc:sldMkLst>
        <pc:spChg chg="mod">
          <ac:chgData name="Mendez Emanuel" userId="5fdff22fa55e16ae" providerId="LiveId" clId="{DF64C479-968C-43CE-B31E-AE0A3129AFEF}" dt="2026-05-11T01:58:19.596" v="29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1:57:41.979" v="21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1:58:10.731" v="28" actId="27636"/>
          <ac:spMkLst>
            <pc:docMk/>
            <pc:sldMk cId="0" sldId="260"/>
            <ac:spMk id="28" creationId="{00000000-0000-0000-0000-000000000000}"/>
          </ac:spMkLst>
        </pc:spChg>
        <pc:spChg chg="del mod">
          <ac:chgData name="Mendez Emanuel" userId="5fdff22fa55e16ae" providerId="LiveId" clId="{DF64C479-968C-43CE-B31E-AE0A3129AFEF}" dt="2026-05-11T01:57:38.400" v="20" actId="478"/>
          <ac:spMkLst>
            <pc:docMk/>
            <pc:sldMk cId="0" sldId="260"/>
            <ac:spMk id="29" creationId="{00000000-0000-0000-0000-000000000000}"/>
          </ac:spMkLst>
        </pc:spChg>
      </pc:sldChg>
      <pc:sldChg chg="delSp modSp mod">
        <pc:chgData name="Mendez Emanuel" userId="5fdff22fa55e16ae" providerId="LiveId" clId="{DF64C479-968C-43CE-B31E-AE0A3129AFEF}" dt="2026-05-11T01:59:28.660" v="36" actId="1076"/>
        <pc:sldMkLst>
          <pc:docMk/>
          <pc:sldMk cId="0" sldId="261"/>
        </pc:sldMkLst>
        <pc:spChg chg="mod">
          <ac:chgData name="Mendez Emanuel" userId="5fdff22fa55e16ae" providerId="LiveId" clId="{DF64C479-968C-43CE-B31E-AE0A3129AFEF}" dt="2026-05-11T01:59:23.104" v="34" actId="2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1:59:17.505" v="33" actId="255"/>
          <ac:spMkLst>
            <pc:docMk/>
            <pc:sldMk cId="0" sldId="261"/>
            <ac:spMk id="22" creationId="{00000000-0000-0000-0000-000000000000}"/>
          </ac:spMkLst>
        </pc:spChg>
        <pc:spChg chg="del">
          <ac:chgData name="Mendez Emanuel" userId="5fdff22fa55e16ae" providerId="LiveId" clId="{DF64C479-968C-43CE-B31E-AE0A3129AFEF}" dt="2026-05-11T01:59:08.035" v="32" actId="478"/>
          <ac:spMkLst>
            <pc:docMk/>
            <pc:sldMk cId="0" sldId="261"/>
            <ac:spMk id="24" creationId="{00000000-0000-0000-0000-000000000000}"/>
          </ac:spMkLst>
        </pc:spChg>
        <pc:picChg chg="mod">
          <ac:chgData name="Mendez Emanuel" userId="5fdff22fa55e16ae" providerId="LiveId" clId="{DF64C479-968C-43CE-B31E-AE0A3129AFEF}" dt="2026-05-11T01:59:28.660" v="36" actId="1076"/>
          <ac:picMkLst>
            <pc:docMk/>
            <pc:sldMk cId="0" sldId="261"/>
            <ac:picMk id="23" creationId="{00000000-0000-0000-0000-000000000000}"/>
          </ac:picMkLst>
        </pc:picChg>
      </pc:sldChg>
      <pc:sldChg chg="delSp modSp mod">
        <pc:chgData name="Mendez Emanuel" userId="5fdff22fa55e16ae" providerId="LiveId" clId="{DF64C479-968C-43CE-B31E-AE0A3129AFEF}" dt="2026-05-11T01:59:53.557" v="38" actId="255"/>
        <pc:sldMkLst>
          <pc:docMk/>
          <pc:sldMk cId="0" sldId="262"/>
        </pc:sldMkLst>
        <pc:spChg chg="mod">
          <ac:chgData name="Mendez Emanuel" userId="5fdff22fa55e16ae" providerId="LiveId" clId="{DF64C479-968C-43CE-B31E-AE0A3129AFEF}" dt="2026-05-11T01:59:53.557" v="38" actId="255"/>
          <ac:spMkLst>
            <pc:docMk/>
            <pc:sldMk cId="0" sldId="262"/>
            <ac:spMk id="5" creationId="{00000000-0000-0000-0000-000000000000}"/>
          </ac:spMkLst>
        </pc:spChg>
        <pc:spChg chg="del">
          <ac:chgData name="Mendez Emanuel" userId="5fdff22fa55e16ae" providerId="LiveId" clId="{DF64C479-968C-43CE-B31E-AE0A3129AFEF}" dt="2026-05-11T01:59:34.633" v="37" actId="478"/>
          <ac:spMkLst>
            <pc:docMk/>
            <pc:sldMk cId="0" sldId="262"/>
            <ac:spMk id="24" creationId="{00000000-0000-0000-0000-000000000000}"/>
          </ac:spMkLst>
        </pc:spChg>
      </pc:sldChg>
      <pc:sldChg chg="delSp modSp mod">
        <pc:chgData name="Mendez Emanuel" userId="5fdff22fa55e16ae" providerId="LiveId" clId="{DF64C479-968C-43CE-B31E-AE0A3129AFEF}" dt="2026-05-11T02:00:16.153" v="41" actId="255"/>
        <pc:sldMkLst>
          <pc:docMk/>
          <pc:sldMk cId="0" sldId="263"/>
        </pc:sldMkLst>
        <pc:spChg chg="mod">
          <ac:chgData name="Mendez Emanuel" userId="5fdff22fa55e16ae" providerId="LiveId" clId="{DF64C479-968C-43CE-B31E-AE0A3129AFEF}" dt="2026-05-11T02:00:02.207" v="39" actId="255"/>
          <ac:spMkLst>
            <pc:docMk/>
            <pc:sldMk cId="0" sldId="263"/>
            <ac:spMk id="5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2:00:16.153" v="41" actId="255"/>
          <ac:spMkLst>
            <pc:docMk/>
            <pc:sldMk cId="0" sldId="263"/>
            <ac:spMk id="9" creationId="{00000000-0000-0000-0000-000000000000}"/>
          </ac:spMkLst>
        </pc:spChg>
        <pc:spChg chg="del">
          <ac:chgData name="Mendez Emanuel" userId="5fdff22fa55e16ae" providerId="LiveId" clId="{DF64C479-968C-43CE-B31E-AE0A3129AFEF}" dt="2026-05-11T02:00:06.317" v="40" actId="478"/>
          <ac:spMkLst>
            <pc:docMk/>
            <pc:sldMk cId="0" sldId="263"/>
            <ac:spMk id="11" creationId="{00000000-0000-0000-0000-000000000000}"/>
          </ac:spMkLst>
        </pc:spChg>
      </pc:sldChg>
      <pc:sldChg chg="modSp mod">
        <pc:chgData name="Mendez Emanuel" userId="5fdff22fa55e16ae" providerId="LiveId" clId="{DF64C479-968C-43CE-B31E-AE0A3129AFEF}" dt="2026-05-11T02:00:45.517" v="45" actId="255"/>
        <pc:sldMkLst>
          <pc:docMk/>
          <pc:sldMk cId="0" sldId="264"/>
        </pc:sldMkLst>
        <pc:spChg chg="mod">
          <ac:chgData name="Mendez Emanuel" userId="5fdff22fa55e16ae" providerId="LiveId" clId="{DF64C479-968C-43CE-B31E-AE0A3129AFEF}" dt="2026-05-11T02:00:45.517" v="45" actId="255"/>
          <ac:spMkLst>
            <pc:docMk/>
            <pc:sldMk cId="0" sldId="264"/>
            <ac:spMk id="5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2:00:37.893" v="44" actId="255"/>
          <ac:spMkLst>
            <pc:docMk/>
            <pc:sldMk cId="0" sldId="264"/>
            <ac:spMk id="26" creationId="{00000000-0000-0000-0000-000000000000}"/>
          </ac:spMkLst>
        </pc:spChg>
      </pc:sldChg>
      <pc:sldChg chg="modSp mod">
        <pc:chgData name="Mendez Emanuel" userId="5fdff22fa55e16ae" providerId="LiveId" clId="{DF64C479-968C-43CE-B31E-AE0A3129AFEF}" dt="2026-05-11T02:02:02.409" v="58" actId="14100"/>
        <pc:sldMkLst>
          <pc:docMk/>
          <pc:sldMk cId="0" sldId="265"/>
        </pc:sldMkLst>
        <pc:spChg chg="mod">
          <ac:chgData name="Mendez Emanuel" userId="5fdff22fa55e16ae" providerId="LiveId" clId="{DF64C479-968C-43CE-B31E-AE0A3129AFEF}" dt="2026-05-11T02:01:38.349" v="52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2:01:41.082" v="53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2:01:45.055" v="54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2:01:55.151" v="56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Mendez Emanuel" userId="5fdff22fa55e16ae" providerId="LiveId" clId="{DF64C479-968C-43CE-B31E-AE0A3129AFEF}" dt="2026-05-11T02:02:02.409" v="58" actId="14100"/>
          <ac:spMkLst>
            <pc:docMk/>
            <pc:sldMk cId="0" sldId="265"/>
            <ac:spMk id="24" creationId="{00000000-0000-0000-0000-000000000000}"/>
          </ac:spMkLst>
        </pc:spChg>
        <pc:picChg chg="mod">
          <ac:chgData name="Mendez Emanuel" userId="5fdff22fa55e16ae" providerId="LiveId" clId="{DF64C479-968C-43CE-B31E-AE0A3129AFEF}" dt="2026-05-11T02:01:01.645" v="47" actId="1076"/>
          <ac:picMkLst>
            <pc:docMk/>
            <pc:sldMk cId="0" sldId="265"/>
            <ac:picMk id="23" creationId="{00000000-0000-0000-0000-000000000000}"/>
          </ac:picMkLst>
        </pc:picChg>
      </pc:sldChg>
      <pc:sldChg chg="delSp modSp del mod">
        <pc:chgData name="Mendez Emanuel" userId="5fdff22fa55e16ae" providerId="LiveId" clId="{DF64C479-968C-43CE-B31E-AE0A3129AFEF}" dt="2026-05-11T02:02:36.366" v="62" actId="47"/>
        <pc:sldMkLst>
          <pc:docMk/>
          <pc:sldMk cId="0" sldId="266"/>
        </pc:sldMkLst>
        <pc:spChg chg="mod">
          <ac:chgData name="Mendez Emanuel" userId="5fdff22fa55e16ae" providerId="LiveId" clId="{DF64C479-968C-43CE-B31E-AE0A3129AFEF}" dt="2026-05-11T02:02:29.592" v="61" actId="255"/>
          <ac:spMkLst>
            <pc:docMk/>
            <pc:sldMk cId="0" sldId="266"/>
            <ac:spMk id="5" creationId="{00000000-0000-0000-0000-000000000000}"/>
          </ac:spMkLst>
        </pc:spChg>
        <pc:spChg chg="del">
          <ac:chgData name="Mendez Emanuel" userId="5fdff22fa55e16ae" providerId="LiveId" clId="{DF64C479-968C-43CE-B31E-AE0A3129AFEF}" dt="2026-05-11T02:02:15.019" v="60" actId="478"/>
          <ac:spMkLst>
            <pc:docMk/>
            <pc:sldMk cId="0" sldId="266"/>
            <ac:spMk id="29" creationId="{00000000-0000-0000-0000-000000000000}"/>
          </ac:spMkLst>
        </pc:spChg>
        <pc:picChg chg="mod">
          <ac:chgData name="Mendez Emanuel" userId="5fdff22fa55e16ae" providerId="LiveId" clId="{DF64C479-968C-43CE-B31E-AE0A3129AFEF}" dt="2026-05-11T02:02:10.690" v="59" actId="1076"/>
          <ac:picMkLst>
            <pc:docMk/>
            <pc:sldMk cId="0" sldId="266"/>
            <ac:picMk id="28" creationId="{00000000-0000-0000-0000-000000000000}"/>
          </ac:picMkLst>
        </pc:picChg>
      </pc:sldChg>
      <pc:sldChg chg="modSp mod">
        <pc:chgData name="Mendez Emanuel" userId="5fdff22fa55e16ae" providerId="LiveId" clId="{DF64C479-968C-43CE-B31E-AE0A3129AFEF}" dt="2026-05-11T02:03:02.630" v="63" actId="255"/>
        <pc:sldMkLst>
          <pc:docMk/>
          <pc:sldMk cId="0" sldId="267"/>
        </pc:sldMkLst>
        <pc:spChg chg="mod">
          <ac:chgData name="Mendez Emanuel" userId="5fdff22fa55e16ae" providerId="LiveId" clId="{DF64C479-968C-43CE-B31E-AE0A3129AFEF}" dt="2026-05-11T02:03:02.630" v="63" actId="255"/>
          <ac:spMkLst>
            <pc:docMk/>
            <pc:sldMk cId="0" sldId="267"/>
            <ac:spMk id="5" creationId="{00000000-0000-0000-0000-000000000000}"/>
          </ac:spMkLst>
        </pc:spChg>
      </pc:sldChg>
      <pc:sldChg chg="new del">
        <pc:chgData name="Mendez Emanuel" userId="5fdff22fa55e16ae" providerId="LiveId" clId="{DF64C479-968C-43CE-B31E-AE0A3129AFEF}" dt="2026-05-11T01:58:43.881" v="31" actId="47"/>
        <pc:sldMkLst>
          <pc:docMk/>
          <pc:sldMk cId="279727285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67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TÉCNICA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4200" b="1" dirty="0">
                <a:solidFill>
                  <a:srgbClr val="E5E7EB"/>
                </a:solidFill>
              </a:rPr>
              <a:t>PRINCIPIOS DE</a:t>
            </a:r>
            <a:endParaRPr lang="en-US" sz="4200" dirty="0"/>
          </a:p>
          <a:p>
            <a:pPr marL="0" indent="0">
              <a:buNone/>
              <a:defRPr/>
            </a:pPr>
            <a:r>
              <a:rPr lang="en-US" sz="4200" b="1" dirty="0">
                <a:solidFill>
                  <a:srgbClr val="E5E7EB"/>
                </a:solidFill>
              </a:rPr>
              <a:t>UI / UX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17220" y="2551974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  <a:defRPr/>
            </a:pPr>
            <a:r>
              <a:rPr lang="en-US" dirty="0">
                <a:solidFill>
                  <a:srgbClr val="CBD5E1"/>
                </a:solidFill>
              </a:rPr>
              <a:t>Guía técnica para programadores: diseño de interfaces, experiencia de usuario y buenas prácticas en código.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1792" y="37033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3B82F6">
              <a:alpha val="14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3771900"/>
            <a:ext cx="1380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CBD5E1"/>
                </a:solidFill>
              </a:rPr>
              <a:t>Diseño de interfaces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59152" y="370332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A78BFA">
              <a:alpha val="14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Text 7"/>
          <p:cNvSpPr/>
          <p:nvPr/>
        </p:nvSpPr>
        <p:spPr>
          <a:xfrm>
            <a:off x="2468880" y="3771900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CBD5E1"/>
                </a:solidFill>
              </a:rPr>
              <a:t>Experiencia de usuario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7033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4453128" y="3771900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CBD5E1"/>
                </a:solidFill>
              </a:rPr>
              <a:t>Buenas prácticas</a:t>
            </a:r>
            <a:endParaRPr lang="en-US" sz="1200" dirty="0"/>
          </a:p>
        </p:txBody>
      </p:sp>
      <p:pic>
        <p:nvPicPr>
          <p:cNvPr id="12" name="Image 0" descr="/mnt/data/dashboard_ui.png"/>
          <p:cNvPicPr>
            <a:picLocks noChangeAspect="1"/>
          </p:cNvPicPr>
          <p:nvPr/>
        </p:nvPicPr>
        <p:blipFill>
          <a:blip r:embed="rId3"/>
          <a:srcRect l="10731" r="10731"/>
          <a:stretch/>
        </p:blipFill>
        <p:spPr>
          <a:xfrm>
            <a:off x="6400800" y="914400"/>
            <a:ext cx="5074920" cy="4846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17920" y="749808"/>
            <a:ext cx="5440680" cy="5166360"/>
          </a:xfrm>
          <a:prstGeom prst="roundRect">
            <a:avLst>
              <a:gd name="adj" fmla="val 2124"/>
            </a:avLst>
          </a:prstGeom>
          <a:solidFill>
            <a:srgbClr val="000000">
              <a:alpha val="0"/>
            </a:srgbClr>
          </a:solidFill>
          <a:ln w="1524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1"/>
          <p:cNvSpPr/>
          <p:nvPr/>
        </p:nvSpPr>
        <p:spPr>
          <a:xfrm>
            <a:off x="6446520" y="60807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Dark mode cómodo: contraste alto, colores suaves y menos fatiga visual.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¿Por qué UI/UX importa al programar?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94A3B8"/>
                </a:solidFill>
              </a:rPr>
              <a:t>No basta con que el código funcione: debe producir una experiencia clara, accesible y eficiente.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1663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defRPr/>
            </a:pPr>
            <a:r>
              <a:rPr lang="en-US" sz="2000" dirty="0">
                <a:solidFill>
                  <a:srgbClr val="CBD5E1"/>
                </a:solidFill>
              </a:rPr>
              <a:t>Una app intuitiva reduce errores y dudas del usuario.</a:t>
            </a:r>
            <a:endParaRPr lang="en-US" sz="2000" dirty="0"/>
          </a:p>
          <a:p>
            <a:pPr>
              <a:defRPr/>
            </a:pPr>
            <a:r>
              <a:rPr lang="en-US" sz="2000" dirty="0">
                <a:solidFill>
                  <a:srgbClr val="CBD5E1"/>
                </a:solidFill>
              </a:rPr>
              <a:t>El diseño consistente facilita mantenimiento y escalabilidad.</a:t>
            </a:r>
            <a:endParaRPr lang="en-US" sz="2000" dirty="0"/>
          </a:p>
          <a:p>
            <a:pPr>
              <a:defRPr/>
            </a:pPr>
            <a:r>
              <a:rPr lang="en-US" sz="2000" dirty="0">
                <a:solidFill>
                  <a:srgbClr val="CBD5E1"/>
                </a:solidFill>
              </a:rPr>
              <a:t>El rendimiento, la accesibilidad y el feedback son parte de la experiencia.</a:t>
            </a:r>
            <a:endParaRPr lang="en-US" sz="2000" dirty="0"/>
          </a:p>
          <a:p>
            <a:pPr>
              <a:defRPr/>
            </a:pPr>
            <a:r>
              <a:rPr lang="en-US" sz="2000" dirty="0">
                <a:solidFill>
                  <a:srgbClr val="CBD5E1"/>
                </a:solidFill>
              </a:rPr>
              <a:t>Un programador con bases de UI/UX crea productos más útiles y profesionales.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4937760" cy="4343400"/>
          </a:xfrm>
          <a:prstGeom prst="roundRect">
            <a:avLst>
              <a:gd name="adj" fmla="val 1684"/>
            </a:avLst>
          </a:prstGeom>
          <a:solidFill>
            <a:srgbClr val="101827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67208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 dirty="0">
                <a:solidFill>
                  <a:srgbClr val="E5E7EB"/>
                </a:solidFill>
              </a:rPr>
              <a:t>Flujo de calidad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20840" y="251460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016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6793992" y="267919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Código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93992" y="30632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Funciona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90688" y="251460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0160">
            <a:solidFill>
              <a:srgbClr val="334155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7863840" y="267919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Interfaz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0" y="30632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Se entiende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0536" y="251460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13283B"/>
          </a:solidFill>
          <a:ln w="1016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8933688" y="267919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UX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33688" y="30632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Se disfruta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30384" y="2514600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13283B"/>
          </a:solidFill>
          <a:ln w="1016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003536" y="267919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Producto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03536" y="30632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Se recomienda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41605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CBD5E1"/>
                </a:solidFill>
              </a:rPr>
              <a:t>Meta técnica: convertir requisitos en interfaces claras, predecibles y rápidas.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4846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 dirty="0">
                <a:solidFill>
                  <a:srgbClr val="94A3B8"/>
                </a:solidFill>
              </a:rPr>
              <a:t>“Funciona” no es el final: es el inicio de una buena experiencia.</a:t>
            </a:r>
            <a:endParaRPr lang="en-US" sz="1200" dirty="0"/>
          </a:p>
        </p:txBody>
      </p:sp>
      <p:pic>
        <p:nvPicPr>
          <p:cNvPr id="23" name="Picture 22" descr="img_ejemplo_uiux_gen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393192"/>
            <a:ext cx="1965960" cy="11338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HEURÍSTICAS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Los 10 principios heurísticos de Nielsen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94A3B8"/>
                </a:solidFill>
              </a:rPr>
              <a:t>Reglas prácticas para detectar problemas comunes de usabilidad antes de entregar una interfaz.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hape 5"/>
          <p:cNvSpPr/>
          <p:nvPr/>
        </p:nvSpPr>
        <p:spPr>
          <a:xfrm>
            <a:off x="813816" y="1719072"/>
            <a:ext cx="329184" cy="329184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859536" y="180136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16152" y="17282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Visibilidad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6152" y="203911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Loaders, barras de progreso y estados.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45936" y="1719072"/>
            <a:ext cx="329184" cy="329184"/>
          </a:xfrm>
          <a:prstGeom prst="ellipse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91656" y="180136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48272" y="17282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Mundo real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48272" y="203911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Lenguaje familiar, no jerga técnica.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46888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13816" y="2587752"/>
            <a:ext cx="329184" cy="329184"/>
          </a:xfrm>
          <a:prstGeom prst="ellipse">
            <a:avLst/>
          </a:prstGeom>
          <a:solidFill>
            <a:srgbClr val="3B82F6">
              <a:alpha val="82000"/>
            </a:srgbClr>
          </a:solidFill>
          <a:ln w="12700">
            <a:solidFill>
              <a:srgbClr val="3B82F6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859536" y="267004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16152" y="2596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Control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16152" y="290779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Cancelar, deshacer y confirmar acciones.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46888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345936" y="2587752"/>
            <a:ext cx="329184" cy="329184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6391656" y="267004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48272" y="25968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Consistencia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48272" y="290779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Mismos colores, fuentes y patrones.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333756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3816" y="3456432"/>
            <a:ext cx="329184" cy="329184"/>
          </a:xfrm>
          <a:prstGeom prst="ellipse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859536" y="353872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16152" y="34655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Prevención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16152" y="377647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Validación y botones deshabilitados.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33756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345936" y="3456432"/>
            <a:ext cx="329184" cy="329184"/>
          </a:xfrm>
          <a:prstGeom prst="ellipse">
            <a:avLst/>
          </a:prstGeom>
          <a:solidFill>
            <a:srgbClr val="3B82F6">
              <a:alpha val="82000"/>
            </a:srgbClr>
          </a:solidFill>
          <a:ln w="12700">
            <a:solidFill>
              <a:srgbClr val="3B82F6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" name="Text 31"/>
          <p:cNvSpPr/>
          <p:nvPr/>
        </p:nvSpPr>
        <p:spPr>
          <a:xfrm>
            <a:off x="6391656" y="353872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48272" y="34655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Reconocimiento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48272" y="377647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Opciones visibles, hints y autocompletado.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420624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13816" y="4325112"/>
            <a:ext cx="329184" cy="329184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>
          <a:xfrm>
            <a:off x="859536" y="440740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16152" y="43342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Eficiencia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16152" y="464515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Atajos y personalización.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420624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345936" y="4325112"/>
            <a:ext cx="329184" cy="329184"/>
          </a:xfrm>
          <a:prstGeom prst="ellipse">
            <a:avLst/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" name="Text 41"/>
          <p:cNvSpPr/>
          <p:nvPr/>
        </p:nvSpPr>
        <p:spPr>
          <a:xfrm>
            <a:off x="6391656" y="440740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48272" y="43342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Minimalismo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48272" y="464515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Solo información relevante.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5800" y="507492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13816" y="5193792"/>
            <a:ext cx="329184" cy="329184"/>
          </a:xfrm>
          <a:prstGeom prst="ellipse">
            <a:avLst/>
          </a:prstGeom>
          <a:solidFill>
            <a:srgbClr val="3B82F6">
              <a:alpha val="82000"/>
            </a:srgbClr>
          </a:solidFill>
          <a:ln w="12700">
            <a:solidFill>
              <a:srgbClr val="3B82F6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" name="Text 46"/>
          <p:cNvSpPr/>
          <p:nvPr/>
        </p:nvSpPr>
        <p:spPr>
          <a:xfrm>
            <a:off x="859536" y="527608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216152" y="52029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Errores claros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16152" y="551383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Mensajes humanos y solución.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217920" y="5074920"/>
            <a:ext cx="5074920" cy="704088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016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" name="Shape 50"/>
          <p:cNvSpPr/>
          <p:nvPr/>
        </p:nvSpPr>
        <p:spPr>
          <a:xfrm>
            <a:off x="6345936" y="5193792"/>
            <a:ext cx="329184" cy="329184"/>
          </a:xfrm>
          <a:prstGeom prst="ellipse">
            <a:avLst/>
          </a:prstGeom>
          <a:solidFill>
            <a:srgbClr val="22D3EE">
              <a:alpha val="82000"/>
            </a:srgbClr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" name="Text 51"/>
          <p:cNvSpPr/>
          <p:nvPr/>
        </p:nvSpPr>
        <p:spPr>
          <a:xfrm>
            <a:off x="6391656" y="527608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48272" y="52029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E5E7EB"/>
                </a:solidFill>
              </a:rPr>
              <a:t>Ayuda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748272" y="5513832"/>
            <a:ext cx="438912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Tooltips, onboarding y documentación.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VISUAL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Jerarquía visual, tipografía y color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94A3B8"/>
                </a:solidFill>
              </a:rPr>
              <a:t>La interfaz guía la atención del usuario mediante tamaño, peso, contraste y espaciado.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96012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Escala tipográfica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rgbClr val="E5E7EB"/>
                </a:solidFill>
              </a:rPr>
              <a:t>Display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2898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200" b="1" dirty="0">
                <a:solidFill>
                  <a:srgbClr val="E5E7EB"/>
                </a:solidFill>
              </a:rPr>
              <a:t>Título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4655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800" b="1" dirty="0">
                <a:solidFill>
                  <a:srgbClr val="CBD5E1"/>
                </a:solidFill>
              </a:rPr>
              <a:t>Sección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0325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00" dirty="0">
                <a:solidFill>
                  <a:srgbClr val="CBD5E1"/>
                </a:solidFill>
              </a:rPr>
              <a:t>Cuerpo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599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Etiqueta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6344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Tokens de color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5349240" y="23500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Primary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5349240" y="28072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Info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2461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5349240" y="32644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Success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7033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5349240" y="37216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Warning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41605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5349240" y="41788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Error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46177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5349240" y="46360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Text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92440" y="160020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836676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Espaciado y grid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58200" y="239572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25334D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281160" y="239572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172033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104120" y="2395728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25334D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458200" y="3054096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172033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281160" y="3054096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25334D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Shape 32"/>
          <p:cNvSpPr/>
          <p:nvPr/>
        </p:nvSpPr>
        <p:spPr>
          <a:xfrm>
            <a:off x="10104120" y="3054096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172033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458200" y="3712464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25334D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281160" y="3712464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172033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" name="Shape 35"/>
          <p:cNvSpPr/>
          <p:nvPr/>
        </p:nvSpPr>
        <p:spPr>
          <a:xfrm>
            <a:off x="10104120" y="3712464"/>
            <a:ext cx="621792" cy="420624"/>
          </a:xfrm>
          <a:prstGeom prst="roundRect">
            <a:avLst>
              <a:gd name="adj" fmla="val 17391"/>
            </a:avLst>
          </a:prstGeom>
          <a:solidFill>
            <a:srgbClr val="25334D"/>
          </a:solidFill>
          <a:ln w="1016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Text 36"/>
          <p:cNvSpPr/>
          <p:nvPr/>
        </p:nvSpPr>
        <p:spPr>
          <a:xfrm>
            <a:off x="8366760" y="4434840"/>
            <a:ext cx="26517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Base de 4px u 8px.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CSS Grid / Flexbox.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Layout responsivo.</a:t>
            </a:r>
            <a:endParaRPr lang="en-US" sz="1200" dirty="0"/>
          </a:p>
        </p:txBody>
      </p:sp>
      <p:pic>
        <p:nvPicPr>
          <p:cNvPr id="39" name="Picture 38" descr="img_ejemplo_uiux_gen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371" y="443266"/>
            <a:ext cx="1828800" cy="1051560"/>
          </a:xfrm>
          <a:prstGeom prst="rect">
            <a:avLst/>
          </a:prstGeom>
        </p:spPr>
      </p:pic>
      <p:sp>
        <p:nvSpPr>
          <p:cNvPr id="40" name="Info extra 40"/>
          <p:cNvSpPr/>
          <p:nvPr/>
        </p:nvSpPr>
        <p:spPr>
          <a:xfrm>
            <a:off x="621792" y="5689921"/>
            <a:ext cx="10500000" cy="620000"/>
          </a:xfrm>
          <a:prstGeom prst="roundRect">
            <a:avLst>
              <a:gd name="adj" fmla="val 15000"/>
            </a:avLst>
          </a:prstGeom>
          <a:solidFill>
            <a:srgbClr val="0F172A">
              <a:alpha val="87000"/>
            </a:srgbClr>
          </a:solidFill>
          <a:ln w="8890">
            <a:solidFill>
              <a:srgbClr val="334155">
                <a:alpha val="65000"/>
              </a:srgbClr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s-SV" sz="1300" b="1" dirty="0">
                <a:solidFill>
                  <a:srgbClr val="38BDF8"/>
                </a:solidFill>
                <a:latin typeface="Aptos" pitchFamily="34" charset="0"/>
              </a:rPr>
              <a:t>Aplicación práctica en una interfaz</a:t>
            </a:r>
            <a:endParaRPr lang="es-SV" sz="13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Usa 2 o 3 tamaños principales para que el usuario entienda qué leer primero.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Mantén colores de estado constantes: éxito, advertencia, error e información.</a:t>
            </a:r>
            <a:endParaRPr lang="es-SV" sz="1200" dirty="0"/>
          </a:p>
          <a:p>
            <a:pPr marL="0" indent="0">
              <a:buNone/>
            </a:pPr>
            <a:r>
              <a:rPr lang="es-SV" sz="1200" dirty="0">
                <a:solidFill>
                  <a:srgbClr val="CBD5E1"/>
                </a:solidFill>
                <a:latin typeface="Aptos" pitchFamily="34" charset="0"/>
              </a:rPr>
              <a:t>• El espaciado repetido crea orden visual y evita que la pantalla se vea improvisada.</a:t>
            </a:r>
            <a:endParaRPr lang="es-SV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Atomic Design aplicado a código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94A3B8"/>
                </a:solidFill>
              </a:rPr>
              <a:t>Dividir la interfaz en piezas reutilizables mejora orden, escalabilidad y consistencia.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0160">
            <a:solidFill>
              <a:srgbClr val="22D3EE">
                <a:alpha val="8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E5E7EB"/>
                </a:solidFill>
              </a:rPr>
              <a:t>Átomo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" y="26060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Button, Input, Icon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87168" y="2404872"/>
            <a:ext cx="329184" cy="329184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297180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0160">
            <a:solidFill>
              <a:srgbClr val="3B82F6">
                <a:alpha val="8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3063240" y="2148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E5E7EB"/>
                </a:solidFill>
              </a:rPr>
              <a:t>Molécula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18104" y="26060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SearchInput, Field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36008" y="2404872"/>
            <a:ext cx="329184" cy="329184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12064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0160">
            <a:solidFill>
              <a:srgbClr val="A78BFA">
                <a:alpha val="8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5212080" y="2148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E5E7EB"/>
                </a:solidFill>
              </a:rPr>
              <a:t>Organismo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66944" y="26060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Navbar, UserList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84848" y="2404872"/>
            <a:ext cx="329184" cy="329184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26948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016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7360920" y="2148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E5E7EB"/>
                </a:solidFill>
              </a:rPr>
              <a:t>Plantilla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15784" y="26060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Layout de página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33688" y="2404872"/>
            <a:ext cx="329184" cy="329184"/>
          </a:xfrm>
          <a:prstGeom prst="chevron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18320" y="19202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0160">
            <a:solidFill>
              <a:srgbClr val="F59E0B">
                <a:alpha val="8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9509760" y="2148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E5E7EB"/>
                </a:solidFill>
              </a:rPr>
              <a:t>Página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64624" y="260604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Vista final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388620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08111F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1143000" y="4160520"/>
            <a:ext cx="43891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Button = ({ variant, children }) =&gt; (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&lt;button className={`btn btn--${variant}`}&gt;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{children}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&lt;/button&gt;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388620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08111F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Text 26"/>
          <p:cNvSpPr/>
          <p:nvPr/>
        </p:nvSpPr>
        <p:spPr>
          <a:xfrm>
            <a:off x="6784848" y="4160520"/>
            <a:ext cx="402336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>
              <a:defRPr/>
            </a:pPr>
            <a:r>
              <a:rPr lang="en-US" sz="1600" dirty="0">
                <a:solidFill>
                  <a:srgbClr val="CBD5E1"/>
                </a:solidFill>
              </a:rPr>
              <a:t>Componentes aceptan props de configuración.</a:t>
            </a:r>
            <a:endParaRPr lang="en-US" sz="1600" dirty="0"/>
          </a:p>
          <a:p>
            <a:pPr>
              <a:defRPr/>
            </a:pPr>
            <a:r>
              <a:rPr lang="en-US" sz="1600" dirty="0">
                <a:solidFill>
                  <a:srgbClr val="CBD5E1"/>
                </a:solidFill>
              </a:rPr>
              <a:t>Evita estilos repetidos o valores “quemados”.</a:t>
            </a:r>
            <a:endParaRPr lang="en-US" sz="1600" dirty="0"/>
          </a:p>
          <a:p>
            <a:pPr>
              <a:defRPr/>
            </a:pPr>
            <a:r>
              <a:rPr lang="en-US" sz="1600" dirty="0">
                <a:solidFill>
                  <a:srgbClr val="CBD5E1"/>
                </a:solidFill>
              </a:rPr>
              <a:t>Permite reemplazar piezas sin romper toda la app</a:t>
            </a:r>
            <a:r>
              <a:rPr lang="en-US" sz="1200" dirty="0">
                <a:solidFill>
                  <a:srgbClr val="CBD5E1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DE UI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Toda interfaz debe manejar 4 estados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94A3B8"/>
                </a:solidFill>
              </a:rPr>
              <a:t>Cargando, error, vacío y con datos: ignorarlos causa pantallas confusas y mala experiencia.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0160">
            <a:solidFill>
              <a:srgbClr val="3B82F6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hape 5"/>
          <p:cNvSpPr/>
          <p:nvPr/>
        </p:nvSpPr>
        <p:spPr>
          <a:xfrm>
            <a:off x="1005840" y="2029968"/>
            <a:ext cx="502920" cy="502920"/>
          </a:xfrm>
          <a:prstGeom prst="ellipse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 dirty="0">
                <a:solidFill>
                  <a:srgbClr val="E5E7EB"/>
                </a:solidFill>
              </a:rPr>
              <a:t>Cargando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450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Skeletons, spinners o barras de progreso.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73736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0160">
            <a:solidFill>
              <a:srgbClr val="EF4444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6583680" y="2029968"/>
            <a:ext cx="502920" cy="502920"/>
          </a:xfrm>
          <a:prstGeom prst="ellipse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 dirty="0">
                <a:solidFill>
                  <a:srgbClr val="E5E7EB"/>
                </a:solidFill>
              </a:rPr>
              <a:t>Error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2450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Mensaje claro + botón Reintentar.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7033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016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5840" y="3995928"/>
            <a:ext cx="502920" cy="502920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1691640" y="3931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 dirty="0">
                <a:solidFill>
                  <a:srgbClr val="E5E7EB"/>
                </a:solidFill>
              </a:rPr>
              <a:t>Vacío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44165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Explicar qué hacer para empezar.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37033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0160">
            <a:solidFill>
              <a:srgbClr val="22C55E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83680" y="3995928"/>
            <a:ext cx="502920" cy="502920"/>
          </a:xfrm>
          <a:prstGeom prst="ellipse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7269480" y="3931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 dirty="0">
                <a:solidFill>
                  <a:srgbClr val="E5E7EB"/>
                </a:solidFill>
              </a:rPr>
              <a:t>Con datos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69480" y="44165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Contenido ordenado, filtrable y legible.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5989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dirty="0">
                <a:solidFill>
                  <a:srgbClr val="CBD5E1"/>
                </a:solidFill>
              </a:rPr>
              <a:t>Patrón clave en código: si loading → Skeleton; si error → ErrorState; si data vacía → EmptyState; si hay datos → render normal.</a:t>
            </a:r>
            <a:endParaRPr lang="en-US" sz="1600" dirty="0"/>
          </a:p>
        </p:txBody>
      </p:sp>
      <p:pic>
        <p:nvPicPr>
          <p:cNvPr id="23" name="Picture 22" descr="img_ejemplo_fee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457200"/>
            <a:ext cx="23774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MICROINTERACCIONES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Feedback visual: pequeñas señales, gran claridad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94A3B8"/>
                </a:solidFill>
              </a:rPr>
              <a:t>Las microinteracciones comunican que una acción fue recibida y evitan incertidumbre.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105156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Botón completo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8992" y="2468880"/>
            <a:ext cx="2514600" cy="384048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635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Text 7"/>
          <p:cNvSpPr/>
          <p:nvPr/>
        </p:nvSpPr>
        <p:spPr>
          <a:xfrm>
            <a:off x="1234440" y="257860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Normal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" y="3063240"/>
            <a:ext cx="2514600" cy="384048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 w="6350">
            <a:solidFill>
              <a:srgbClr val="22D3EE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1234440" y="31729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Hover: sombra + elevación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78992" y="3657600"/>
            <a:ext cx="2514600" cy="384048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7780">
            <a:solidFill>
              <a:srgbClr val="FFFFFF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34440" y="376732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Focus: outline visible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78992" y="4251960"/>
            <a:ext cx="2514600" cy="384048"/>
          </a:xfrm>
          <a:prstGeom prst="roundRect">
            <a:avLst>
              <a:gd name="adj" fmla="val 21429"/>
            </a:avLst>
          </a:prstGeom>
          <a:solidFill>
            <a:srgbClr val="334155">
              <a:alpha val="50000"/>
            </a:srgbClr>
          </a:solidFill>
          <a:ln w="635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34440" y="436168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Disabled: opacidad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645920"/>
            <a:ext cx="3108960" cy="4480560"/>
          </a:xfrm>
          <a:prstGeom prst="roundRect">
            <a:avLst>
              <a:gd name="adj" fmla="val 2353"/>
            </a:avLst>
          </a:prstGeom>
          <a:solidFill>
            <a:srgbClr val="101827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Skeleton loader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251460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475569">
              <a:alpha val="75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937760" y="3081528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334155">
              <a:alpha val="75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937760" y="3648456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475569">
              <a:alpha val="75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937760" y="4215384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334155">
              <a:alpha val="75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955280" y="164592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8275320" y="2057400"/>
            <a:ext cx="278892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Transiciones cortas: 150–250 ms.</a:t>
            </a:r>
            <a:endParaRPr lang="en-US" sz="1250" dirty="0"/>
          </a:p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No animar todo: solo lo que aporta significado.</a:t>
            </a:r>
            <a:endParaRPr lang="en-US" sz="1250" dirty="0"/>
          </a:p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Mantener foco visible para teclado.</a:t>
            </a:r>
            <a:endParaRPr lang="en-US" sz="1250" dirty="0"/>
          </a:p>
          <a:p>
            <a:pPr>
              <a:defRPr/>
            </a:pPr>
            <a:r>
              <a:rPr lang="en-US" sz="1250" dirty="0">
                <a:solidFill>
                  <a:srgbClr val="CBD5E1"/>
                </a:solidFill>
              </a:rPr>
              <a:t>Mostrar éxito, error y progreso con claridad.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ACCESIBILIDAD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Accesibilidad web: usable para todos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94A3B8"/>
                </a:solidFill>
              </a:rPr>
              <a:t>La accesibilidad mejora la calidad de la interfaz y reduce barreras para teclado, lectores de pantalla y móviles.</a:t>
            </a:r>
            <a:endParaRPr lang="en-US" sz="1600" dirty="0"/>
          </a:p>
        </p:txBody>
      </p:sp>
      <p:pic>
        <p:nvPicPr>
          <p:cNvPr id="6" name="Image 0" descr="/mnt/data/accessibility_keyboard.png"/>
          <p:cNvPicPr>
            <a:picLocks noChangeAspect="1"/>
          </p:cNvPicPr>
          <p:nvPr/>
        </p:nvPicPr>
        <p:blipFill>
          <a:blip r:embed="rId3"/>
          <a:srcRect l="12571" r="12571"/>
          <a:stretch/>
        </p:blipFill>
        <p:spPr>
          <a:xfrm>
            <a:off x="685800" y="1600200"/>
            <a:ext cx="521208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60020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Text 5"/>
          <p:cNvSpPr/>
          <p:nvPr/>
        </p:nvSpPr>
        <p:spPr>
          <a:xfrm>
            <a:off x="65836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 dirty="0">
                <a:solidFill>
                  <a:srgbClr val="E5E7EB"/>
                </a:solidFill>
              </a:rPr>
              <a:t>Reglas esenciales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29400" y="2423160"/>
            <a:ext cx="434340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defRPr/>
            </a:pPr>
            <a:r>
              <a:rPr lang="en-US" sz="1400" dirty="0">
                <a:solidFill>
                  <a:srgbClr val="CBD5E1"/>
                </a:solidFill>
              </a:rPr>
              <a:t>Usar HTML semántico antes que divs sin significado.</a:t>
            </a:r>
            <a:endParaRPr lang="en-US" sz="1400" dirty="0"/>
          </a:p>
          <a:p>
            <a:pPr>
              <a:defRPr/>
            </a:pPr>
            <a:r>
              <a:rPr lang="en-US" sz="1400" dirty="0">
                <a:solidFill>
                  <a:srgbClr val="CBD5E1"/>
                </a:solidFill>
              </a:rPr>
              <a:t>ARIA solo cuando el HTML nativo no alcanza.</a:t>
            </a:r>
            <a:endParaRPr lang="en-US" sz="1400" dirty="0"/>
          </a:p>
          <a:p>
            <a:pPr>
              <a:defRPr/>
            </a:pPr>
            <a:r>
              <a:rPr lang="en-US" sz="1400" dirty="0">
                <a:solidFill>
                  <a:srgbClr val="CBD5E1"/>
                </a:solidFill>
              </a:rPr>
              <a:t>Contraste WCAG AA: 4.5:1 en texto normal.</a:t>
            </a:r>
            <a:endParaRPr lang="en-US" sz="1400" dirty="0"/>
          </a:p>
          <a:p>
            <a:pPr>
              <a:defRPr/>
            </a:pPr>
            <a:r>
              <a:rPr lang="en-US" sz="1400" dirty="0">
                <a:solidFill>
                  <a:srgbClr val="CBD5E1"/>
                </a:solidFill>
              </a:rPr>
              <a:t>Área mínima táctil: 44 × 44 px.</a:t>
            </a:r>
            <a:endParaRPr lang="en-US" sz="1400" dirty="0"/>
          </a:p>
          <a:p>
            <a:pPr>
              <a:defRPr/>
            </a:pPr>
            <a:r>
              <a:rPr lang="en-US" sz="1400" dirty="0">
                <a:solidFill>
                  <a:srgbClr val="CBD5E1"/>
                </a:solidFill>
              </a:rPr>
              <a:t>Nunca eliminar el outline del foco.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29400" y="51663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Ejemplo: &lt;nav aria-label="Navegación principal"&gt; mejora la comprensión de lectores de pantalla.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Rendimiento también es UX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94A3B8"/>
                </a:solidFill>
              </a:rPr>
              <a:t>Una interfaz lenta se siente rota. Optimizar carga e interacción mejora satisfacción y conversiones.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22D3EE">
                <a:alpha val="7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1033272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 dirty="0">
                <a:solidFill>
                  <a:srgbClr val="E5E7EB"/>
                </a:solidFill>
              </a:rPr>
              <a:t>LCP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22D3EE"/>
                </a:solidFill>
              </a:rPr>
              <a:t>&lt; 2.5 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Preload de imágenes hero, SSR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8745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A78BFA">
                <a:alpha val="7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3822192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 dirty="0">
                <a:solidFill>
                  <a:srgbClr val="E5E7EB"/>
                </a:solidFill>
              </a:rPr>
              <a:t>INP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22192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22D3EE"/>
                </a:solidFill>
              </a:rPr>
              <a:t>&lt; 200 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22192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Diferir JavaScript no crítico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18745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11112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 dirty="0">
                <a:solidFill>
                  <a:srgbClr val="E5E7EB"/>
                </a:solidFill>
              </a:rPr>
              <a:t>CLS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11112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22D3EE"/>
                </a:solidFill>
              </a:rPr>
              <a:t>&lt; 0.1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11112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Reservar espacio en imágenes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35440" y="18745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9400032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 dirty="0">
                <a:solidFill>
                  <a:srgbClr val="E5E7EB"/>
                </a:solidFill>
              </a:rPr>
              <a:t>TTFB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400032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22D3EE"/>
                </a:solidFill>
              </a:rPr>
              <a:t>&lt; 800 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00032" y="29626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94A3B8"/>
                </a:solidFill>
              </a:rPr>
              <a:t>CDN, caching y HTTP/2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397764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08111F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1188720" y="431596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&lt;img loading='lazy' decoding='async'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width='800' height='450'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alt='Descripción significativa' /&gt;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97764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08111F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29400" y="431596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Dashboard = lazy(() =&gt; import('./Dashboard'));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&lt;Suspense fallback={&lt;PageSkeleton /&gt;}&gt;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&lt;Dashboard /&gt;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&lt;/Suspense&gt;</a:t>
            </a:r>
            <a:endParaRPr lang="en-US" sz="1200" dirty="0"/>
          </a:p>
        </p:txBody>
      </p:sp>
      <p:sp>
        <p:nvSpPr>
          <p:cNvPr id="26" name="Info extra 26"/>
          <p:cNvSpPr/>
          <p:nvPr/>
        </p:nvSpPr>
        <p:spPr>
          <a:xfrm>
            <a:off x="807900" y="5742774"/>
            <a:ext cx="10774500" cy="950634"/>
          </a:xfrm>
          <a:prstGeom prst="roundRect">
            <a:avLst>
              <a:gd name="adj" fmla="val 15000"/>
            </a:avLst>
          </a:prstGeom>
          <a:solidFill>
            <a:srgbClr val="0F172A">
              <a:alpha val="87000"/>
            </a:srgbClr>
          </a:solidFill>
          <a:ln w="8890">
            <a:solidFill>
              <a:srgbClr val="334155">
                <a:alpha val="65000"/>
              </a:srgbClr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s-SV" sz="1600" b="1" dirty="0">
                <a:solidFill>
                  <a:srgbClr val="38BDF8"/>
                </a:solidFill>
                <a:latin typeface="Aptos" pitchFamily="34" charset="0"/>
              </a:rPr>
              <a:t>Idea clave</a:t>
            </a:r>
            <a:endParaRPr lang="es-SV" sz="1600" dirty="0"/>
          </a:p>
          <a:p>
            <a:pPr marL="0" indent="0">
              <a:buNone/>
            </a:pPr>
            <a:r>
              <a:rPr lang="es-SV" sz="1600" dirty="0">
                <a:solidFill>
                  <a:srgbClr val="CBD5E1"/>
                </a:solidFill>
                <a:latin typeface="Aptos" pitchFamily="34" charset="0"/>
              </a:rPr>
              <a:t>• Una página rápida reduce abandono y transmite confianza; por eso rendimiento y UX van juntos.</a:t>
            </a:r>
            <a:endParaRPr lang="es-SV" sz="1600" dirty="0"/>
          </a:p>
          <a:p>
            <a:pPr marL="0" indent="0">
              <a:buNone/>
            </a:pPr>
            <a:r>
              <a:rPr lang="es-SV" sz="1600" dirty="0">
                <a:solidFill>
                  <a:srgbClr val="CBD5E1"/>
                </a:solidFill>
                <a:latin typeface="Aptos" pitchFamily="34" charset="0"/>
              </a:rPr>
              <a:t>• Optimiza imágenes, divide código pesado y reserva espacio para evitar saltos visuales.</a:t>
            </a:r>
            <a:endParaRPr lang="es-SV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Formularios: donde más fricción aparece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18872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94A3B8"/>
                </a:solidFill>
              </a:rPr>
              <a:t>Un formulario bien diseñado reduce errores, acelera el llenado y aumenta la confianza del usuario.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600822"/>
            <a:ext cx="3749040" cy="4251960"/>
          </a:xfrm>
          <a:prstGeom prst="roundRect">
            <a:avLst>
              <a:gd name="adj" fmla="val 1951"/>
            </a:avLst>
          </a:prstGeom>
          <a:solidFill>
            <a:srgbClr val="1E293B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Principios UX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301752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Una columna por defecto.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Labels siempre visibles.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Validación después del blur.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Agrupar campos con fieldset.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Errores específicos y humanos.</a:t>
            </a:r>
            <a:endParaRPr lang="en-US" sz="1200" dirty="0"/>
          </a:p>
          <a:p>
            <a:pPr>
              <a:defRPr/>
            </a:pPr>
            <a:r>
              <a:rPr lang="en-US" sz="1200" dirty="0">
                <a:solidFill>
                  <a:srgbClr val="CBD5E1"/>
                </a:solidFill>
              </a:rPr>
              <a:t>Stepper si hay más de 5 campos.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1314" y="1607369"/>
            <a:ext cx="2834640" cy="4251960"/>
          </a:xfrm>
          <a:prstGeom prst="roundRect">
            <a:avLst>
              <a:gd name="adj" fmla="val 2581"/>
            </a:avLst>
          </a:prstGeom>
          <a:solidFill>
            <a:srgbClr val="101827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51663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Ejemplo visual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24871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Nombre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268833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72033"/>
          </a:solidFill>
          <a:ln w="1143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5257800" y="32644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Correo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57800" y="346557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72033"/>
          </a:solidFill>
          <a:ln w="11430">
            <a:solidFill>
              <a:srgbClr val="EF4444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5266944" y="381304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EF4444"/>
                </a:solidFill>
              </a:rPr>
              <a:t>Formato de email inválido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40416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Contraseña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57800" y="4242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72033"/>
          </a:solidFill>
          <a:ln w="11430">
            <a:solidFill>
              <a:srgbClr val="334155">
                <a:alpha val="9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257800" y="50749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40680" y="519379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dirty="0">
                <a:solidFill>
                  <a:srgbClr val="FFFFFF"/>
                </a:solidFill>
              </a:rPr>
              <a:t>Crear cuenta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2440" y="1595359"/>
            <a:ext cx="3291840" cy="4251960"/>
          </a:xfrm>
          <a:prstGeom prst="roundRect">
            <a:avLst>
              <a:gd name="adj" fmla="val 2222"/>
            </a:avLst>
          </a:prstGeom>
          <a:solidFill>
            <a:srgbClr val="08111F"/>
          </a:solidFill>
          <a:ln w="10160">
            <a:solidFill>
              <a:srgbClr val="334155">
                <a:alpha val="60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Text 19"/>
          <p:cNvSpPr/>
          <p:nvPr/>
        </p:nvSpPr>
        <p:spPr>
          <a:xfrm>
            <a:off x="836676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dirty="0">
                <a:solidFill>
                  <a:srgbClr val="E5E7EB"/>
                </a:solidFill>
              </a:rPr>
              <a:t>Validación en código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2423160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(!value.trim())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'Campo obligatorio';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(!emailRegex.test(value))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'Correo inválido';</a:t>
            </a:r>
            <a:endParaRPr lang="en-US" sz="1200" dirty="0"/>
          </a:p>
          <a:p>
            <a:pPr marL="0" indent="0">
              <a:buNone/>
              <a:defRPr/>
            </a:pP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feedback inmediato</a:t>
            </a:r>
            <a:endParaRPr lang="en-US" sz="1200" dirty="0"/>
          </a:p>
          <a:p>
            <a:pPr marL="0" indent="0">
              <a:buNone/>
              <a:defRPr/>
            </a:pPr>
            <a:r>
              <a:rPr lang="en-US" sz="1200" dirty="0">
                <a:solidFill>
                  <a:srgbClr val="A7F3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(touched) setError(validate(value));</a:t>
            </a:r>
            <a:endParaRPr lang="en-US" sz="1200" dirty="0"/>
          </a:p>
        </p:txBody>
      </p:sp>
      <p:pic>
        <p:nvPicPr>
          <p:cNvPr id="23" name="Picture 22" descr="img_ejemplo_formul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480061"/>
            <a:ext cx="1965960" cy="1133856"/>
          </a:xfrm>
          <a:prstGeom prst="rect">
            <a:avLst/>
          </a:prstGeom>
        </p:spPr>
      </p:pic>
      <p:sp>
        <p:nvSpPr>
          <p:cNvPr id="24" name="Info extra 24"/>
          <p:cNvSpPr/>
          <p:nvPr/>
        </p:nvSpPr>
        <p:spPr>
          <a:xfrm>
            <a:off x="657900" y="5929615"/>
            <a:ext cx="11137860" cy="893782"/>
          </a:xfrm>
          <a:prstGeom prst="roundRect">
            <a:avLst>
              <a:gd name="adj" fmla="val 15000"/>
            </a:avLst>
          </a:prstGeom>
          <a:solidFill>
            <a:srgbClr val="0F172A">
              <a:alpha val="87000"/>
            </a:srgbClr>
          </a:solidFill>
          <a:ln w="8890">
            <a:solidFill>
              <a:srgbClr val="334155">
                <a:alpha val="65000"/>
              </a:srgbClr>
            </a:solidFill>
          </a:ln>
        </p:spPr>
        <p:txBody>
          <a:bodyPr wrap="square" lIns="137160" tIns="91440" rIns="137160" bIns="91440" rtlCol="0" anchor="t"/>
          <a:lstStyle/>
          <a:p>
            <a:pPr marL="0" indent="0">
              <a:buNone/>
            </a:pPr>
            <a:r>
              <a:rPr lang="es-SV" sz="1600" b="1" dirty="0">
                <a:solidFill>
                  <a:srgbClr val="38BDF8"/>
                </a:solidFill>
                <a:latin typeface="Aptos" pitchFamily="34" charset="0"/>
              </a:rPr>
              <a:t>Detalle importante</a:t>
            </a:r>
            <a:endParaRPr lang="es-SV" sz="1600" dirty="0"/>
          </a:p>
          <a:p>
            <a:pPr marL="0" indent="0">
              <a:buNone/>
            </a:pPr>
            <a:r>
              <a:rPr lang="es-SV" sz="1600" dirty="0">
                <a:solidFill>
                  <a:srgbClr val="CBD5E1"/>
                </a:solidFill>
                <a:latin typeface="Aptos" pitchFamily="34" charset="0"/>
              </a:rPr>
              <a:t>• Los errores deben aparecer cerca del campo afectado y decir exactamente cómo corregirlos.</a:t>
            </a:r>
            <a:endParaRPr lang="es-SV" sz="1600" dirty="0"/>
          </a:p>
          <a:p>
            <a:pPr marL="0" indent="0">
              <a:buNone/>
            </a:pPr>
            <a:r>
              <a:rPr lang="es-SV" sz="1600" dirty="0">
                <a:solidFill>
                  <a:srgbClr val="CBD5E1"/>
                </a:solidFill>
                <a:latin typeface="Aptos" pitchFamily="34" charset="0"/>
              </a:rPr>
              <a:t>• Un formulario simple aumenta la probabilidad de que el usuario lo complete.</a:t>
            </a:r>
            <a:endParaRPr lang="es-SV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11475720" cy="0"/>
          </a:xfrm>
          <a:prstGeom prst="line">
            <a:avLst/>
          </a:prstGeom>
          <a:noFill/>
          <a:ln w="6350">
            <a:solidFill>
              <a:srgbClr val="334155">
                <a:alpha val="5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 dirty="0">
                <a:solidFill>
                  <a:srgbClr val="E5E7EB"/>
                </a:solidFill>
              </a:rPr>
              <a:t>Checklist final para Pull Requests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dirty="0">
                <a:solidFill>
                  <a:srgbClr val="94A3B8"/>
                </a:solidFill>
              </a:rPr>
              <a:t>Antes de entregar una interfaz, revisa accesibilidad, rendimiento, UX, funcionalidad y mantenibilidad.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22D3EE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 dirty="0">
                <a:solidFill>
                  <a:srgbClr val="E5E7EB"/>
                </a:solidFill>
              </a:rPr>
              <a:t>Accesibilidad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✓ alt descriptivo   ✓ 44×44 px táctil   ✓ contraste WCAG AA   ✓ navegación por teclado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22C55E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6629400" y="1828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 dirty="0">
                <a:solidFill>
                  <a:srgbClr val="E5E7EB"/>
                </a:solidFill>
              </a:rPr>
              <a:t>Rendimiento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29400" y="22402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✓ imágenes optimizadas   ✓ lazy loading   ✓ bundle inicial controlado   ✓ sin JS bloqueante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A78BFA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 dirty="0">
                <a:solidFill>
                  <a:srgbClr val="E5E7EB"/>
                </a:solidFill>
              </a:rPr>
              <a:t>UX y funcionalidad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41148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✓ loading/error/empty/data   ✓ validación clara   ✓ confirmación destructiva   ✓ funciona en móvil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520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0160">
            <a:solidFill>
              <a:srgbClr val="F59E0B">
                <a:alpha val="65000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6629400" y="3703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 b="1" dirty="0">
                <a:solidFill>
                  <a:srgbClr val="E5E7EB"/>
                </a:solidFill>
              </a:rPr>
              <a:t>Código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29400" y="41148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BD5E1"/>
                </a:solidFill>
              </a:rPr>
              <a:t>✓ tokens de diseño   ✓ componentes reutilizables   ✓ sin estilos inline innecesarios   ✓ CSS organizado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57150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E5E7EB"/>
                </a:solidFill>
              </a:rPr>
              <a:t>Conclusión: UI/UX no es decoración. Es una práctica técnica que hace que el software sea claro, accesible, rápido y agradable para todos.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1126</Words>
  <Application>Microsoft Office PowerPoint</Application>
  <PresentationFormat>Panorámica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Mono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Principios UI/UX — Guía para Programadores</dc:title>
  <dc:subject>Principios de UI/UX para programadores</dc:subject>
  <dc:creator>OpenAI</dc:creator>
  <cp:lastModifiedBy>Mendez Emanuel</cp:lastModifiedBy>
  <cp:revision>1</cp:revision>
  <dcterms:created xsi:type="dcterms:W3CDTF">2026-04-28T17:39:30Z</dcterms:created>
  <dcterms:modified xsi:type="dcterms:W3CDTF">2026-05-11T02:03:07Z</dcterms:modified>
</cp:coreProperties>
</file>