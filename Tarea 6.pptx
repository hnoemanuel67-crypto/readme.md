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4" r:id="rId16"/>
    <p:sldId id="276" r:id="rId17"/>
    <p:sldId id="275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142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81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272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677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28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17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692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194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326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4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15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78145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7624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206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1066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6980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390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2036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Diagrama</a:t>
            </a:r>
            <a:r>
              <a:rPr dirty="0"/>
              <a:t> de </a:t>
            </a:r>
            <a:r>
              <a:rPr dirty="0" err="1"/>
              <a:t>Secuencia</a:t>
            </a:r>
            <a:r>
              <a:rPr dirty="0"/>
              <a:t> </a:t>
            </a:r>
            <a:r>
              <a:rPr lang="es-SV" dirty="0"/>
              <a:t>UML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 err="1"/>
              <a:t>Representa</a:t>
            </a:r>
            <a:r>
              <a:rPr sz="2800" dirty="0"/>
              <a:t> la </a:t>
            </a:r>
            <a:r>
              <a:rPr sz="2800" dirty="0" err="1"/>
              <a:t>interacción</a:t>
            </a:r>
            <a:r>
              <a:rPr sz="2800" dirty="0"/>
              <a:t> entre </a:t>
            </a:r>
            <a:r>
              <a:rPr sz="2800" dirty="0" err="1"/>
              <a:t>objetos</a:t>
            </a:r>
            <a:r>
              <a:rPr sz="2800" dirty="0"/>
              <a:t> a lo largo del </a:t>
            </a:r>
            <a:r>
              <a:rPr sz="2800" dirty="0" err="1"/>
              <a:t>tiempo</a:t>
            </a:r>
            <a:r>
              <a:rPr sz="2800" dirty="0"/>
              <a:t>.</a:t>
            </a:r>
          </a:p>
        </p:txBody>
      </p:sp>
      <p:pic>
        <p:nvPicPr>
          <p:cNvPr id="1026" name="Picture 2" descr="UML: Diagrama de Secuencia – INGENIERÍA DEL SOFTWARE">
            <a:extLst>
              <a:ext uri="{FF2B5EF4-FFF2-40B4-BE49-F238E27FC236}">
                <a16:creationId xmlns:a16="http://schemas.microsoft.com/office/drawing/2014/main" id="{4C37FC4D-DE73-08FA-2199-211FE7BD1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032" y="3181351"/>
            <a:ext cx="6455935" cy="2953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/>
              <a:t>¿</a:t>
            </a:r>
            <a:r>
              <a:rPr dirty="0" err="1"/>
              <a:t>Qué</a:t>
            </a:r>
            <a:r>
              <a:rPr dirty="0"/>
              <a:t> es un </a:t>
            </a:r>
            <a:r>
              <a:rPr dirty="0" err="1"/>
              <a:t>Diagrama</a:t>
            </a:r>
            <a:r>
              <a:rPr dirty="0"/>
              <a:t> de </a:t>
            </a:r>
            <a:r>
              <a:rPr dirty="0" err="1"/>
              <a:t>Secuencia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2189649"/>
            <a:ext cx="7765322" cy="4058751"/>
          </a:xfrm>
        </p:spPr>
        <p:txBody>
          <a:bodyPr>
            <a:normAutofit/>
          </a:bodyPr>
          <a:lstStyle/>
          <a:p>
            <a:r>
              <a:rPr lang="es-ES" sz="2800" dirty="0"/>
              <a:t>Es un tipo de diagrama de interacción UML que detalla cómo los objetos de un sistema colaboran entre sí, mostrando el orden cronológico de los mensajes intercambiados</a:t>
            </a:r>
            <a:r>
              <a:rPr lang="es-ES" sz="2800" dirty="0">
                <a:effectLst/>
              </a:rPr>
              <a:t>.</a:t>
            </a:r>
            <a:endParaRPr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Importancia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 err="1"/>
              <a:t>Permite</a:t>
            </a:r>
            <a:r>
              <a:rPr sz="2800" dirty="0"/>
              <a:t> </a:t>
            </a:r>
            <a:r>
              <a:rPr sz="2800" dirty="0" err="1"/>
              <a:t>entender</a:t>
            </a:r>
            <a:r>
              <a:rPr sz="2800" dirty="0"/>
              <a:t> </a:t>
            </a:r>
            <a:r>
              <a:rPr sz="2800" dirty="0" err="1"/>
              <a:t>cómo</a:t>
            </a:r>
            <a:r>
              <a:rPr sz="2800" dirty="0"/>
              <a:t> </a:t>
            </a:r>
            <a:r>
              <a:rPr sz="2800" dirty="0" err="1"/>
              <a:t>interactúan</a:t>
            </a:r>
            <a:r>
              <a:rPr sz="2800" dirty="0"/>
              <a:t> </a:t>
            </a:r>
            <a:r>
              <a:rPr sz="2800" dirty="0" err="1"/>
              <a:t>los</a:t>
            </a:r>
            <a:r>
              <a:rPr sz="2800" dirty="0"/>
              <a:t> </a:t>
            </a:r>
            <a:r>
              <a:rPr sz="2800" dirty="0" err="1"/>
              <a:t>sistemas</a:t>
            </a:r>
            <a:r>
              <a:rPr sz="2800" dirty="0"/>
              <a:t>.</a:t>
            </a:r>
          </a:p>
        </p:txBody>
      </p:sp>
      <p:pic>
        <p:nvPicPr>
          <p:cNvPr id="2050" name="Picture 2" descr="UML: Diagrama de Secuencia – INGENIERÍA DEL SOFTWARE">
            <a:extLst>
              <a:ext uri="{FF2B5EF4-FFF2-40B4-BE49-F238E27FC236}">
                <a16:creationId xmlns:a16="http://schemas.microsoft.com/office/drawing/2014/main" id="{2D69C733-FFC9-4D10-DC36-ED45525168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825" y="3126691"/>
            <a:ext cx="508635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Elementos</a:t>
            </a:r>
            <a:r>
              <a:rPr dirty="0"/>
              <a:t> </a:t>
            </a:r>
            <a:r>
              <a:rPr dirty="0" err="1"/>
              <a:t>Principales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929398"/>
            <a:ext cx="7765322" cy="4058751"/>
          </a:xfrm>
        </p:spPr>
        <p:txBody>
          <a:bodyPr>
            <a:normAutofit/>
          </a:bodyPr>
          <a:lstStyle/>
          <a:p>
            <a:r>
              <a:rPr sz="2800" dirty="0" err="1"/>
              <a:t>Líneas</a:t>
            </a:r>
            <a:r>
              <a:rPr sz="2800" dirty="0"/>
              <a:t> de </a:t>
            </a:r>
            <a:r>
              <a:rPr sz="2800" dirty="0" err="1"/>
              <a:t>vida</a:t>
            </a:r>
            <a:endParaRPr lang="es-SV" sz="2800" dirty="0"/>
          </a:p>
          <a:p>
            <a:r>
              <a:rPr lang="es-SV" sz="2800" dirty="0"/>
              <a:t>M</a:t>
            </a:r>
            <a:r>
              <a:rPr sz="2800" dirty="0" err="1"/>
              <a:t>ensajes</a:t>
            </a:r>
            <a:endParaRPr lang="es-SV" sz="2800" dirty="0"/>
          </a:p>
          <a:p>
            <a:r>
              <a:rPr lang="es-SV" sz="2800" dirty="0"/>
              <a:t>R</a:t>
            </a:r>
            <a:r>
              <a:rPr sz="2800" dirty="0" err="1"/>
              <a:t>etornos</a:t>
            </a:r>
            <a:r>
              <a:rPr sz="2800" dirty="0"/>
              <a:t>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66D96DE-72CD-81FF-C79F-6B53D9B8F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871" y="2039119"/>
            <a:ext cx="5168118" cy="34454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Líneas</a:t>
            </a:r>
            <a:r>
              <a:rPr dirty="0"/>
              <a:t> de Vida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2114732"/>
            <a:ext cx="7765322" cy="2628535"/>
          </a:xfrm>
        </p:spPr>
        <p:txBody>
          <a:bodyPr>
            <a:normAutofit/>
          </a:bodyPr>
          <a:lstStyle/>
          <a:p>
            <a:r>
              <a:rPr lang="es-ES" sz="2800" dirty="0">
                <a:effectLst/>
              </a:rPr>
              <a:t> </a:t>
            </a:r>
            <a:r>
              <a:rPr lang="es-ES" sz="2800" dirty="0"/>
              <a:t>representan la existencia de un participante individual (objeto o actor) a lo largo del tiempo</a:t>
            </a:r>
            <a:r>
              <a:rPr lang="es-ES" sz="2800" dirty="0">
                <a:effectLst/>
              </a:rPr>
              <a:t>, mostradas como líneas verticales discontinuas debajo de un rectángulo con el nombre del objeto.</a:t>
            </a:r>
            <a:endParaRPr sz="2800" dirty="0"/>
          </a:p>
        </p:txBody>
      </p:sp>
      <p:pic>
        <p:nvPicPr>
          <p:cNvPr id="6" name="Picture 4" descr="clash royale goblin - Paquete de stickers para WhatsApp">
            <a:extLst>
              <a:ext uri="{FF2B5EF4-FFF2-40B4-BE49-F238E27FC236}">
                <a16:creationId xmlns:a16="http://schemas.microsoft.com/office/drawing/2014/main" id="{9C4BB246-FF52-D6B8-6528-33A384571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0510" y="4743267"/>
            <a:ext cx="1990158" cy="1812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Definición</a:t>
            </a:r>
            <a:r>
              <a:rPr dirty="0"/>
              <a:t> </a:t>
            </a:r>
            <a:r>
              <a:rPr dirty="0" err="1"/>
              <a:t>Líneas</a:t>
            </a:r>
            <a:r>
              <a:rPr dirty="0"/>
              <a:t> de Vida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9339" y="2139573"/>
            <a:ext cx="7765322" cy="2755144"/>
          </a:xfrm>
        </p:spPr>
        <p:txBody>
          <a:bodyPr>
            <a:normAutofit/>
          </a:bodyPr>
          <a:lstStyle/>
          <a:p>
            <a:r>
              <a:rPr lang="es-ES" sz="2800" dirty="0">
                <a:effectLst/>
              </a:rPr>
              <a:t> son </a:t>
            </a:r>
            <a:r>
              <a:rPr lang="es-ES" sz="2800" dirty="0"/>
              <a:t>líneas verticales discontinuas que representan la existencia y participación de un objeto, componente o actor específico a lo largo del tiempo en una interacción</a:t>
            </a:r>
            <a:r>
              <a:rPr lang="es-ES" sz="2800" dirty="0">
                <a:effectLst/>
              </a:rPr>
              <a:t>.</a:t>
            </a:r>
            <a:endParaRPr sz="2800" dirty="0"/>
          </a:p>
        </p:txBody>
      </p:sp>
      <p:pic>
        <p:nvPicPr>
          <p:cNvPr id="4" name="Picture 4" descr="Clash Royale Goblin">
            <a:extLst>
              <a:ext uri="{FF2B5EF4-FFF2-40B4-BE49-F238E27FC236}">
                <a16:creationId xmlns:a16="http://schemas.microsoft.com/office/drawing/2014/main" id="{07E5815F-A246-38C2-0A8F-683F5E6A9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2768" y="4210050"/>
            <a:ext cx="224790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Representación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1278" y="2189649"/>
            <a:ext cx="4421226" cy="4058751"/>
          </a:xfrm>
        </p:spPr>
        <p:txBody>
          <a:bodyPr>
            <a:normAutofit/>
          </a:bodyPr>
          <a:lstStyle/>
          <a:p>
            <a:r>
              <a:rPr sz="2800" dirty="0"/>
              <a:t>Se </a:t>
            </a:r>
            <a:r>
              <a:rPr sz="2800" dirty="0" err="1"/>
              <a:t>dibujan</a:t>
            </a:r>
            <a:r>
              <a:rPr sz="2800" dirty="0"/>
              <a:t> </a:t>
            </a:r>
            <a:r>
              <a:rPr sz="2800" dirty="0" err="1"/>
              <a:t>como</a:t>
            </a:r>
            <a:r>
              <a:rPr sz="2800" dirty="0"/>
              <a:t> </a:t>
            </a:r>
            <a:r>
              <a:rPr sz="2800" dirty="0" err="1"/>
              <a:t>líneas</a:t>
            </a:r>
            <a:r>
              <a:rPr sz="2800" dirty="0"/>
              <a:t> </a:t>
            </a:r>
            <a:r>
              <a:rPr sz="2800" dirty="0" err="1"/>
              <a:t>verticales</a:t>
            </a:r>
            <a:r>
              <a:rPr sz="2800" dirty="0"/>
              <a:t>.</a:t>
            </a:r>
          </a:p>
        </p:txBody>
      </p:sp>
      <p:pic>
        <p:nvPicPr>
          <p:cNvPr id="4098" name="Picture 2" descr="Dominando los diagramas de secuencia: Guía completa | Boardmix">
            <a:extLst>
              <a:ext uri="{FF2B5EF4-FFF2-40B4-BE49-F238E27FC236}">
                <a16:creationId xmlns:a16="http://schemas.microsoft.com/office/drawing/2014/main" id="{81AFF09F-6380-9E8E-2A37-53BDCA7999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2653" y="2189649"/>
            <a:ext cx="1838325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Mensajes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 err="1"/>
              <a:t>Comunicación</a:t>
            </a:r>
            <a:r>
              <a:rPr sz="2800" dirty="0"/>
              <a:t> entre </a:t>
            </a:r>
            <a:r>
              <a:rPr sz="2800" dirty="0" err="1"/>
              <a:t>objetos</a:t>
            </a:r>
            <a:r>
              <a:rPr sz="2800" dirty="0"/>
              <a:t>.</a:t>
            </a:r>
          </a:p>
        </p:txBody>
      </p:sp>
      <p:pic>
        <p:nvPicPr>
          <p:cNvPr id="5122" name="Picture 2" descr="UML: Diagrama de Secuencia – INGENIERÍA DEL SOFTWARE">
            <a:extLst>
              <a:ext uri="{FF2B5EF4-FFF2-40B4-BE49-F238E27FC236}">
                <a16:creationId xmlns:a16="http://schemas.microsoft.com/office/drawing/2014/main" id="{096140B4-1FC2-E2F1-F127-6831EAFFF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582" y="2526176"/>
            <a:ext cx="6038850" cy="276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Tipos</a:t>
            </a:r>
            <a:r>
              <a:rPr dirty="0"/>
              <a:t> de </a:t>
            </a:r>
            <a:r>
              <a:rPr dirty="0" err="1"/>
              <a:t>Mensajes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 err="1"/>
              <a:t>Síncronos</a:t>
            </a:r>
            <a:r>
              <a:rPr sz="2800" dirty="0"/>
              <a:t>, </a:t>
            </a:r>
            <a:r>
              <a:rPr sz="2800" dirty="0" err="1"/>
              <a:t>asíncronos</a:t>
            </a:r>
            <a:r>
              <a:rPr sz="2800" dirty="0"/>
              <a:t> y de </a:t>
            </a:r>
            <a:r>
              <a:rPr sz="2800" dirty="0" err="1"/>
              <a:t>retorno</a:t>
            </a:r>
            <a:r>
              <a:rPr sz="2800" dirty="0"/>
              <a:t>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80EB791-AB1C-87AC-C27A-D38D14E7A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643" y="2718582"/>
            <a:ext cx="5294727" cy="35298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Mensaje</a:t>
            </a:r>
            <a:r>
              <a:rPr dirty="0"/>
              <a:t> </a:t>
            </a:r>
            <a:r>
              <a:rPr dirty="0" err="1"/>
              <a:t>Síncrono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9339" y="1985670"/>
            <a:ext cx="7765322" cy="1696550"/>
          </a:xfrm>
        </p:spPr>
        <p:txBody>
          <a:bodyPr>
            <a:normAutofit/>
          </a:bodyPr>
          <a:lstStyle/>
          <a:p>
            <a:r>
              <a:rPr sz="2800" dirty="0"/>
              <a:t>Espera </a:t>
            </a:r>
            <a:r>
              <a:rPr sz="2800" dirty="0" err="1"/>
              <a:t>respuesta</a:t>
            </a:r>
            <a:r>
              <a:rPr sz="2800" dirty="0"/>
              <a:t> antes de </a:t>
            </a:r>
            <a:r>
              <a:rPr sz="2800" dirty="0" err="1"/>
              <a:t>continuar</a:t>
            </a:r>
            <a:r>
              <a:rPr sz="2800" dirty="0"/>
              <a:t>.</a:t>
            </a:r>
          </a:p>
        </p:txBody>
      </p:sp>
      <p:pic>
        <p:nvPicPr>
          <p:cNvPr id="7172" name="Picture 4" descr="Diagramas de secuencia: cómo crear diagramas con UML - IONOS España">
            <a:extLst>
              <a:ext uri="{FF2B5EF4-FFF2-40B4-BE49-F238E27FC236}">
                <a16:creationId xmlns:a16="http://schemas.microsoft.com/office/drawing/2014/main" id="{152CA925-B428-532D-18D1-ED67B6F83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482" y="3017081"/>
            <a:ext cx="6877050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Mensaje</a:t>
            </a:r>
            <a:r>
              <a:rPr dirty="0"/>
              <a:t> </a:t>
            </a:r>
            <a:r>
              <a:rPr dirty="0" err="1"/>
              <a:t>Asíncrono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929398"/>
            <a:ext cx="7765322" cy="4058751"/>
          </a:xfrm>
        </p:spPr>
        <p:txBody>
          <a:bodyPr>
            <a:normAutofit/>
          </a:bodyPr>
          <a:lstStyle/>
          <a:p>
            <a:r>
              <a:rPr sz="2800" dirty="0"/>
              <a:t>No </a:t>
            </a:r>
            <a:r>
              <a:rPr sz="2800" dirty="0" err="1"/>
              <a:t>espera</a:t>
            </a:r>
            <a:r>
              <a:rPr sz="2800" dirty="0"/>
              <a:t> </a:t>
            </a:r>
            <a:r>
              <a:rPr sz="2800" dirty="0" err="1"/>
              <a:t>respuesta</a:t>
            </a:r>
            <a:r>
              <a:rPr sz="2800" dirty="0"/>
              <a:t>.</a:t>
            </a:r>
          </a:p>
        </p:txBody>
      </p:sp>
      <p:pic>
        <p:nvPicPr>
          <p:cNvPr id="8196" name="Picture 4" descr="Diagramas de secuencia: cómo crear diagramas con UML - IONOS España">
            <a:extLst>
              <a:ext uri="{FF2B5EF4-FFF2-40B4-BE49-F238E27FC236}">
                <a16:creationId xmlns:a16="http://schemas.microsoft.com/office/drawing/2014/main" id="{1653ABEF-C0C7-0CD8-65CF-C6C08A69B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" y="3115554"/>
            <a:ext cx="6877050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Mensajes</a:t>
            </a:r>
            <a:r>
              <a:rPr dirty="0"/>
              <a:t> de </a:t>
            </a:r>
            <a:r>
              <a:rPr dirty="0" err="1"/>
              <a:t>Retorno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985668"/>
            <a:ext cx="7765322" cy="4058751"/>
          </a:xfrm>
        </p:spPr>
        <p:txBody>
          <a:bodyPr>
            <a:normAutofit/>
          </a:bodyPr>
          <a:lstStyle/>
          <a:p>
            <a:r>
              <a:rPr lang="es-ES" sz="2800" dirty="0">
                <a:effectLst/>
              </a:rPr>
              <a:t>los mensajes de retorno (también llamados de respuesta) </a:t>
            </a:r>
            <a:r>
              <a:rPr lang="es-ES" sz="2800" dirty="0"/>
              <a:t>representan el envío de información de vuelta desde un objeto receptor hacia el emisor que inició la interacción.</a:t>
            </a:r>
            <a:endParaRPr sz="2800" dirty="0"/>
          </a:p>
        </p:txBody>
      </p:sp>
      <p:pic>
        <p:nvPicPr>
          <p:cNvPr id="4" name="Picture 4" descr="Clash Royale Emotes by RafQ - Paquete de stickers para WhatsApp">
            <a:extLst>
              <a:ext uri="{FF2B5EF4-FFF2-40B4-BE49-F238E27FC236}">
                <a16:creationId xmlns:a16="http://schemas.microsoft.com/office/drawing/2014/main" id="{265BBC01-C0BE-AFBB-8D58-CFC8A1D1F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7543" y="4306912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Representación</a:t>
            </a:r>
            <a:r>
              <a:rPr dirty="0"/>
              <a:t> de </a:t>
            </a:r>
            <a:r>
              <a:rPr dirty="0" err="1"/>
              <a:t>Retorno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985669"/>
            <a:ext cx="7765322" cy="4058751"/>
          </a:xfrm>
        </p:spPr>
        <p:txBody>
          <a:bodyPr>
            <a:normAutofit/>
          </a:bodyPr>
          <a:lstStyle/>
          <a:p>
            <a:r>
              <a:rPr sz="2800" dirty="0"/>
              <a:t>Se </a:t>
            </a:r>
            <a:r>
              <a:rPr sz="2800" dirty="0" err="1"/>
              <a:t>dibuja</a:t>
            </a:r>
            <a:r>
              <a:rPr sz="2800" dirty="0"/>
              <a:t> con </a:t>
            </a:r>
            <a:r>
              <a:rPr sz="2800" dirty="0" err="1"/>
              <a:t>línea</a:t>
            </a:r>
            <a:r>
              <a:rPr sz="2800" dirty="0"/>
              <a:t> </a:t>
            </a:r>
            <a:r>
              <a:rPr sz="2800" dirty="0" err="1"/>
              <a:t>discontinua</a:t>
            </a:r>
            <a:r>
              <a:rPr sz="2800" dirty="0"/>
              <a:t>.</a:t>
            </a:r>
          </a:p>
        </p:txBody>
      </p:sp>
      <p:pic>
        <p:nvPicPr>
          <p:cNvPr id="9218" name="Picture 2" descr="Flecha de retorno a la izquierda - Iconos gratis de flechas">
            <a:extLst>
              <a:ext uri="{FF2B5EF4-FFF2-40B4-BE49-F238E27FC236}">
                <a16:creationId xmlns:a16="http://schemas.microsoft.com/office/drawing/2014/main" id="{F6266D7B-D3B5-B3A7-8566-8E2F1ED280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2315" y="2828780"/>
            <a:ext cx="3215640" cy="321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clash royale goblin - Paquete de stickers para WhatsApp">
            <a:extLst>
              <a:ext uri="{FF2B5EF4-FFF2-40B4-BE49-F238E27FC236}">
                <a16:creationId xmlns:a16="http://schemas.microsoft.com/office/drawing/2014/main" id="{CFDDFF94-60FE-03D0-F3C0-E5AED5141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771" y="3429000"/>
            <a:ext cx="1990158" cy="1812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Importancia</a:t>
            </a:r>
            <a:r>
              <a:rPr dirty="0"/>
              <a:t> de </a:t>
            </a:r>
            <a:r>
              <a:rPr dirty="0" err="1"/>
              <a:t>Mensajes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800" dirty="0">
                <a:effectLst/>
              </a:rPr>
              <a:t>los mensajes son el componente más crítico porque </a:t>
            </a:r>
            <a:r>
              <a:rPr lang="es-ES" sz="2800" dirty="0"/>
              <a:t>definen la </a:t>
            </a:r>
            <a:r>
              <a:rPr lang="es-ES" sz="2800" b="1" dirty="0">
                <a:effectLst/>
              </a:rPr>
              <a:t>dinámica y el comportamiento</a:t>
            </a:r>
            <a:r>
              <a:rPr lang="es-ES" sz="2800" dirty="0"/>
              <a:t> del sistema al detallar cómo interactúan los objetos entre sí a lo largo del tiempo</a:t>
            </a:r>
            <a:r>
              <a:rPr lang="es-ES" sz="2800" dirty="0">
                <a:effectLst/>
              </a:rPr>
              <a:t>.</a:t>
            </a:r>
            <a:endParaRPr sz="2800" dirty="0"/>
          </a:p>
        </p:txBody>
      </p:sp>
      <p:pic>
        <p:nvPicPr>
          <p:cNvPr id="4" name="Picture 8" descr="Goblin Clash Royale Sticker - Goblin Clash Royale Cool - Descubre y  comparte GIF">
            <a:extLst>
              <a:ext uri="{FF2B5EF4-FFF2-40B4-BE49-F238E27FC236}">
                <a16:creationId xmlns:a16="http://schemas.microsoft.com/office/drawing/2014/main" id="{DA423165-AAD0-C485-6ECB-FE267835B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8941" y="4199109"/>
            <a:ext cx="1592092" cy="1592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V</a:t>
            </a:r>
            <a:r>
              <a:rPr dirty="0" err="1"/>
              <a:t>entajas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931741"/>
            <a:ext cx="7765322" cy="4058751"/>
          </a:xfrm>
        </p:spPr>
        <p:txBody>
          <a:bodyPr>
            <a:normAutofit/>
          </a:bodyPr>
          <a:lstStyle/>
          <a:p>
            <a:r>
              <a:rPr lang="es-ES" sz="2800" dirty="0">
                <a:effectLst/>
              </a:rPr>
              <a:t>ofrecen ventajas clave para el desarrollo de software al </a:t>
            </a:r>
            <a:r>
              <a:rPr lang="es-ES" sz="2800" dirty="0"/>
              <a:t>visualizar de forma clara y cronológica cómo interactúan los objetos</a:t>
            </a:r>
            <a:r>
              <a:rPr lang="es-ES" sz="2800" dirty="0">
                <a:effectLst/>
              </a:rPr>
              <a:t>. Permiten documentar el flujo de control, identificar cuellos de botella, depurar escenarios complejos y detallar los casos de uso, facilitando la comprensión de la lógica del sistema.</a:t>
            </a:r>
            <a:endParaRPr sz="2800" dirty="0"/>
          </a:p>
        </p:txBody>
      </p:sp>
      <p:pic>
        <p:nvPicPr>
          <p:cNvPr id="4" name="Picture 4" descr="clash royale goblin - Paquete de stickers para WhatsApp">
            <a:extLst>
              <a:ext uri="{FF2B5EF4-FFF2-40B4-BE49-F238E27FC236}">
                <a16:creationId xmlns:a16="http://schemas.microsoft.com/office/drawing/2014/main" id="{0FA5B990-B804-94EC-6E42-D22197BF7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7718" y="5185534"/>
            <a:ext cx="1336851" cy="121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BF3627-9D63-FA89-D044-3226FFBA8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Desventajas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D0CB0D-D709-6E45-631D-0C54CD3AE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800" dirty="0">
                <a:effectLst/>
              </a:rPr>
              <a:t>incluyen la </a:t>
            </a:r>
            <a:r>
              <a:rPr lang="es-ES" sz="2800" dirty="0"/>
              <a:t>pérdida de legibilidad en interacciones complejas, la dificultad para representar paralelismo o lógica condicional, y la fragilidad ante cambios</a:t>
            </a:r>
            <a:r>
              <a:rPr lang="es-ES" sz="2800" dirty="0">
                <a:effectLst/>
              </a:rPr>
              <a:t>, ya que requieren actualizaciones manuales constantes para evitar inconsistencias.</a:t>
            </a:r>
            <a:endParaRPr lang="es-SV" sz="2800" dirty="0"/>
          </a:p>
        </p:txBody>
      </p:sp>
      <p:pic>
        <p:nvPicPr>
          <p:cNvPr id="4" name="Picture 4" descr="clash royale goblin - Paquete de stickers para WhatsApp">
            <a:extLst>
              <a:ext uri="{FF2B5EF4-FFF2-40B4-BE49-F238E27FC236}">
                <a16:creationId xmlns:a16="http://schemas.microsoft.com/office/drawing/2014/main" id="{E3F2BBAD-7382-05FD-EA2F-C4388AE3A8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7380" y="4839872"/>
            <a:ext cx="1336851" cy="121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2467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880160"/>
            <a:ext cx="7765322" cy="4058751"/>
          </a:xfrm>
        </p:spPr>
        <p:txBody>
          <a:bodyPr>
            <a:normAutofit/>
          </a:bodyPr>
          <a:lstStyle/>
          <a:p>
            <a:r>
              <a:rPr sz="2800" dirty="0" err="1"/>
              <a:t>Facilita</a:t>
            </a:r>
            <a:r>
              <a:rPr sz="2800" dirty="0"/>
              <a:t> </a:t>
            </a:r>
            <a:r>
              <a:rPr sz="2800" dirty="0" err="1"/>
              <a:t>el</a:t>
            </a:r>
            <a:r>
              <a:rPr sz="2800" dirty="0"/>
              <a:t> </a:t>
            </a:r>
            <a:r>
              <a:rPr sz="2800" dirty="0" err="1"/>
              <a:t>diseño</a:t>
            </a:r>
            <a:r>
              <a:rPr sz="2800" dirty="0"/>
              <a:t> y </a:t>
            </a:r>
            <a:r>
              <a:rPr sz="2800" dirty="0" err="1"/>
              <a:t>análisis</a:t>
            </a:r>
            <a:r>
              <a:rPr sz="2800" dirty="0"/>
              <a:t> de </a:t>
            </a:r>
            <a:r>
              <a:rPr sz="2800" dirty="0" err="1"/>
              <a:t>sistemas</a:t>
            </a:r>
            <a:r>
              <a:rPr sz="2800" dirty="0"/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E064BFC-550A-C0D9-07F1-3A5B47C17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196" y="2772067"/>
            <a:ext cx="4879622" cy="3476333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izarra">
  <a:themeElements>
    <a:clrScheme name="Pizarr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Pizarr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izarr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Pizarra</Template>
  <TotalTime>79</TotalTime>
  <Words>346</Words>
  <Application>Microsoft Office PowerPoint</Application>
  <PresentationFormat>Presentación en pantalla (4:3)</PresentationFormat>
  <Paragraphs>36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Calisto MT</vt:lpstr>
      <vt:lpstr>Wingdings 2</vt:lpstr>
      <vt:lpstr>Pizarra</vt:lpstr>
      <vt:lpstr>Diagrama de Secuencia UML</vt:lpstr>
      <vt:lpstr>¿Qué es un Diagrama de Secuencia?</vt:lpstr>
      <vt:lpstr>Importancia</vt:lpstr>
      <vt:lpstr>Elementos Principales</vt:lpstr>
      <vt:lpstr>Líneas de Vida</vt:lpstr>
      <vt:lpstr>Definición Líneas de Vida</vt:lpstr>
      <vt:lpstr>Representación</vt:lpstr>
      <vt:lpstr>Mensajes</vt:lpstr>
      <vt:lpstr>Tipos de Mensajes</vt:lpstr>
      <vt:lpstr>Mensaje Síncrono</vt:lpstr>
      <vt:lpstr>Mensaje Asíncrono</vt:lpstr>
      <vt:lpstr>Mensajes de Retorno</vt:lpstr>
      <vt:lpstr>Representación de Retorno</vt:lpstr>
      <vt:lpstr>Importancia de Mensajes</vt:lpstr>
      <vt:lpstr>Ventajas</vt:lpstr>
      <vt:lpstr>Desventajas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Mendez Emanuel</cp:lastModifiedBy>
  <cp:revision>2</cp:revision>
  <dcterms:created xsi:type="dcterms:W3CDTF">2013-01-27T09:14:16Z</dcterms:created>
  <dcterms:modified xsi:type="dcterms:W3CDTF">2026-04-15T03:12:20Z</dcterms:modified>
  <cp:category/>
</cp:coreProperties>
</file>