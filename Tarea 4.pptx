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2" r:id="rId12"/>
    <p:sldId id="273" r:id="rId13"/>
    <p:sldId id="280" r:id="rId14"/>
    <p:sldId id="281" r:id="rId15"/>
    <p:sldId id="28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35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3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037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03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814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1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898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77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74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7762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326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554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65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78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5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8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Historia de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2035170"/>
            <a:ext cx="5916090" cy="3605975"/>
          </a:xfrm>
        </p:spPr>
        <p:txBody>
          <a:bodyPr>
            <a:normAutofit/>
          </a:bodyPr>
          <a:lstStyle/>
          <a:p>
            <a:r>
              <a:rPr dirty="0"/>
              <a:t>Unified Modeling Language (UML)</a:t>
            </a:r>
          </a:p>
          <a:p>
            <a:pPr lvl="1"/>
            <a:r>
              <a:rPr sz="2000" dirty="0" err="1"/>
              <a:t>Lenguaje</a:t>
            </a:r>
            <a:r>
              <a:rPr sz="2000" dirty="0"/>
              <a:t> </a:t>
            </a:r>
            <a:r>
              <a:rPr sz="2000" dirty="0" err="1"/>
              <a:t>estándar</a:t>
            </a:r>
            <a:r>
              <a:rPr sz="2000" dirty="0"/>
              <a:t> para </a:t>
            </a:r>
            <a:r>
              <a:rPr sz="2000" dirty="0" err="1"/>
              <a:t>modelar</a:t>
            </a:r>
            <a:r>
              <a:rPr sz="2000" dirty="0"/>
              <a:t> </a:t>
            </a:r>
            <a:r>
              <a:rPr sz="2000" dirty="0" err="1"/>
              <a:t>sistemas</a:t>
            </a:r>
            <a:endParaRPr sz="2000" dirty="0"/>
          </a:p>
          <a:p>
            <a:pPr lvl="1"/>
            <a:r>
              <a:rPr sz="2000" dirty="0" err="1"/>
              <a:t>Permite</a:t>
            </a:r>
            <a:r>
              <a:rPr sz="2000" dirty="0"/>
              <a:t> </a:t>
            </a:r>
            <a:r>
              <a:rPr sz="2000" dirty="0" err="1"/>
              <a:t>visualizar</a:t>
            </a:r>
            <a:r>
              <a:rPr sz="2000" dirty="0"/>
              <a:t>, </a:t>
            </a:r>
            <a:r>
              <a:rPr sz="2000" dirty="0" err="1"/>
              <a:t>especificar</a:t>
            </a:r>
            <a:r>
              <a:rPr sz="2000" dirty="0"/>
              <a:t> y </a:t>
            </a:r>
            <a:r>
              <a:rPr sz="2000" dirty="0" err="1"/>
              <a:t>documentar</a:t>
            </a:r>
            <a:r>
              <a:rPr sz="2000" dirty="0"/>
              <a:t> software</a:t>
            </a:r>
          </a:p>
          <a:p>
            <a:pPr lvl="1"/>
            <a:r>
              <a:rPr sz="2000" dirty="0"/>
              <a:t>No es un </a:t>
            </a:r>
            <a:r>
              <a:rPr sz="2000" dirty="0" err="1"/>
              <a:t>lenguaje</a:t>
            </a:r>
            <a:r>
              <a:rPr sz="2000" dirty="0"/>
              <a:t> de </a:t>
            </a:r>
            <a:r>
              <a:rPr sz="2000" dirty="0" err="1"/>
              <a:t>programación</a:t>
            </a:r>
            <a:endParaRPr sz="2000" dirty="0"/>
          </a:p>
        </p:txBody>
      </p:sp>
      <p:pic>
        <p:nvPicPr>
          <p:cNvPr id="1026" name="Picture 2" descr="Cómo se les dice a estas fotos que sirven para memes? Me refiero a las que  no tienen texto ni nada añadido. Solo imágenes random, tontas, para usar de  meme o para">
            <a:extLst>
              <a:ext uri="{FF2B5EF4-FFF2-40B4-BE49-F238E27FC236}">
                <a16:creationId xmlns:a16="http://schemas.microsoft.com/office/drawing/2014/main" id="{EF64BF97-4054-0E1B-68B5-06A103295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1877" y="1731499"/>
            <a:ext cx="187642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39" y="124375"/>
            <a:ext cx="7765322" cy="970450"/>
          </a:xfrm>
        </p:spPr>
        <p:txBody>
          <a:bodyPr/>
          <a:lstStyle/>
          <a:p>
            <a:r>
              <a:rPr dirty="0" err="1"/>
              <a:t>Contexto</a:t>
            </a:r>
            <a:r>
              <a:rPr dirty="0"/>
              <a:t> Histórico (</a:t>
            </a:r>
            <a:r>
              <a:rPr dirty="0" err="1"/>
              <a:t>Años</a:t>
            </a:r>
            <a:r>
              <a:rPr dirty="0"/>
              <a:t> 80)</a:t>
            </a:r>
          </a:p>
        </p:txBody>
      </p:sp>
      <p:pic>
        <p:nvPicPr>
          <p:cNvPr id="2052" name="Picture 4" descr="Historia del UML by Laura Marcela on Prezi">
            <a:extLst>
              <a:ext uri="{FF2B5EF4-FFF2-40B4-BE49-F238E27FC236}">
                <a16:creationId xmlns:a16="http://schemas.microsoft.com/office/drawing/2014/main" id="{748AF36C-9477-815A-0929-9B757EEC18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669" y="1761098"/>
            <a:ext cx="6168661" cy="385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 Industria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66913"/>
            <a:ext cx="7765322" cy="4058751"/>
          </a:xfrm>
        </p:spPr>
        <p:txBody>
          <a:bodyPr>
            <a:normAutofit/>
          </a:bodyPr>
          <a:lstStyle/>
          <a:p>
            <a:r>
              <a:rPr sz="2400" dirty="0"/>
              <a:t>Cada </a:t>
            </a:r>
            <a:r>
              <a:rPr sz="2400" dirty="0" err="1"/>
              <a:t>empresa</a:t>
            </a:r>
            <a:r>
              <a:rPr sz="2400" dirty="0"/>
              <a:t> </a:t>
            </a:r>
            <a:r>
              <a:rPr sz="2400" dirty="0" err="1"/>
              <a:t>usaba</a:t>
            </a:r>
            <a:r>
              <a:rPr sz="2400" dirty="0"/>
              <a:t> </a:t>
            </a:r>
            <a:r>
              <a:rPr sz="2400" dirty="0" err="1"/>
              <a:t>su</a:t>
            </a:r>
            <a:r>
              <a:rPr sz="2400" dirty="0"/>
              <a:t> </a:t>
            </a:r>
            <a:r>
              <a:rPr sz="2400" dirty="0" err="1"/>
              <a:t>propio</a:t>
            </a:r>
            <a:r>
              <a:rPr sz="2400" dirty="0"/>
              <a:t> </a:t>
            </a:r>
            <a:r>
              <a:rPr sz="2400" dirty="0" err="1"/>
              <a:t>método</a:t>
            </a:r>
            <a:endParaRPr sz="2400" dirty="0"/>
          </a:p>
          <a:p>
            <a:pPr lvl="1"/>
            <a:r>
              <a:rPr sz="2400" dirty="0" err="1"/>
              <a:t>Dificultad</a:t>
            </a:r>
            <a:r>
              <a:rPr sz="2400" dirty="0"/>
              <a:t> para </a:t>
            </a:r>
            <a:r>
              <a:rPr sz="2400" dirty="0" err="1"/>
              <a:t>entender</a:t>
            </a:r>
            <a:r>
              <a:rPr sz="2400" dirty="0"/>
              <a:t> </a:t>
            </a:r>
            <a:r>
              <a:rPr sz="2400" dirty="0" err="1"/>
              <a:t>proyectos</a:t>
            </a:r>
            <a:r>
              <a:rPr sz="2400" dirty="0"/>
              <a:t> </a:t>
            </a:r>
            <a:r>
              <a:rPr sz="2400" dirty="0" err="1"/>
              <a:t>externos</a:t>
            </a:r>
            <a:endParaRPr sz="2400" dirty="0"/>
          </a:p>
          <a:p>
            <a:pPr lvl="1"/>
            <a:r>
              <a:rPr sz="2400" dirty="0" err="1"/>
              <a:t>Documentación</a:t>
            </a:r>
            <a:r>
              <a:rPr sz="2400" dirty="0"/>
              <a:t> </a:t>
            </a:r>
            <a:r>
              <a:rPr sz="2400" dirty="0" err="1"/>
              <a:t>inconsistente</a:t>
            </a:r>
            <a:endParaRPr sz="2400" dirty="0"/>
          </a:p>
          <a:p>
            <a:pPr lvl="1"/>
            <a:r>
              <a:rPr sz="2400" dirty="0" err="1"/>
              <a:t>Necesidad</a:t>
            </a:r>
            <a:r>
              <a:rPr sz="2400" dirty="0"/>
              <a:t> de </a:t>
            </a:r>
            <a:r>
              <a:rPr sz="2400" dirty="0" err="1"/>
              <a:t>unificar</a:t>
            </a:r>
            <a:r>
              <a:rPr sz="2400" dirty="0"/>
              <a:t> </a:t>
            </a:r>
            <a:r>
              <a:rPr sz="2400" dirty="0" err="1"/>
              <a:t>criterios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Los Tres </a:t>
            </a:r>
            <a:r>
              <a:rPr dirty="0" err="1"/>
              <a:t>Creadores</a:t>
            </a:r>
            <a:endParaRPr dirty="0"/>
          </a:p>
        </p:txBody>
      </p:sp>
      <p:pic>
        <p:nvPicPr>
          <p:cNvPr id="3074" name="Picture 2" descr="Los 3 amigos (Grady Booch, James Rambaugh e Ivar Jacobson).">
            <a:extLst>
              <a:ext uri="{FF2B5EF4-FFF2-40B4-BE49-F238E27FC236}">
                <a16:creationId xmlns:a16="http://schemas.microsoft.com/office/drawing/2014/main" id="{D645CBC0-6BDE-7E01-1D78-1CD477AFA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391" y="1580050"/>
            <a:ext cx="5985217" cy="448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Unificación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1994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Trabajaron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Rational Software</a:t>
            </a:r>
          </a:p>
          <a:p>
            <a:pPr lvl="1"/>
            <a:r>
              <a:rPr sz="2400" dirty="0" err="1"/>
              <a:t>Decidieron</a:t>
            </a:r>
            <a:r>
              <a:rPr sz="2400" dirty="0"/>
              <a:t> </a:t>
            </a:r>
            <a:r>
              <a:rPr sz="2400" dirty="0" err="1"/>
              <a:t>combinar</a:t>
            </a:r>
            <a:r>
              <a:rPr sz="2400" dirty="0"/>
              <a:t> sus </a:t>
            </a:r>
            <a:r>
              <a:rPr sz="2400" dirty="0" err="1"/>
              <a:t>métodos</a:t>
            </a:r>
            <a:endParaRPr sz="2400" dirty="0"/>
          </a:p>
          <a:p>
            <a:pPr lvl="1"/>
            <a:r>
              <a:rPr sz="2400" dirty="0" err="1"/>
              <a:t>Objetivo</a:t>
            </a:r>
            <a:r>
              <a:rPr sz="2400" dirty="0"/>
              <a:t>: </a:t>
            </a:r>
            <a:r>
              <a:rPr sz="2400" dirty="0" err="1"/>
              <a:t>crear</a:t>
            </a:r>
            <a:r>
              <a:rPr sz="2400" dirty="0"/>
              <a:t> un </a:t>
            </a:r>
            <a:r>
              <a:rPr sz="2400" dirty="0" err="1"/>
              <a:t>lenguaje</a:t>
            </a:r>
            <a:r>
              <a:rPr sz="2400" dirty="0"/>
              <a:t> </a:t>
            </a:r>
            <a:r>
              <a:rPr sz="2400" dirty="0" err="1"/>
              <a:t>estándar</a:t>
            </a:r>
            <a:r>
              <a:rPr sz="2400" dirty="0"/>
              <a:t> universal</a:t>
            </a:r>
          </a:p>
        </p:txBody>
      </p:sp>
      <p:pic>
        <p:nvPicPr>
          <p:cNvPr id="4098" name="Picture 2" descr="Lenguaje unificado de modelado - Wikipedia, la enciclopedia libre">
            <a:extLst>
              <a:ext uri="{FF2B5EF4-FFF2-40B4-BE49-F238E27FC236}">
                <a16:creationId xmlns:a16="http://schemas.microsoft.com/office/drawing/2014/main" id="{262A8D77-C278-0018-BA81-7F42FBC97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8007" y="3260187"/>
            <a:ext cx="3320488" cy="2411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Adopción</a:t>
            </a:r>
            <a:r>
              <a:rPr dirty="0"/>
              <a:t> </a:t>
            </a:r>
            <a:r>
              <a:rPr dirty="0" err="1"/>
              <a:t>Oficial</a:t>
            </a:r>
            <a:r>
              <a:rPr dirty="0"/>
              <a:t> (1997)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Adoptado</a:t>
            </a:r>
            <a:r>
              <a:rPr sz="2400" dirty="0"/>
              <a:t> </a:t>
            </a:r>
            <a:r>
              <a:rPr sz="2400" dirty="0" err="1"/>
              <a:t>por</a:t>
            </a:r>
            <a:r>
              <a:rPr sz="2400" dirty="0"/>
              <a:t> Object Management Group (OMG)</a:t>
            </a:r>
          </a:p>
          <a:p>
            <a:pPr lvl="1"/>
            <a:r>
              <a:rPr sz="2400" dirty="0" err="1"/>
              <a:t>Publicación</a:t>
            </a:r>
            <a:r>
              <a:rPr sz="2400" dirty="0"/>
              <a:t> de UML 1.0</a:t>
            </a:r>
          </a:p>
          <a:p>
            <a:pPr lvl="1"/>
            <a:r>
              <a:rPr sz="2400" dirty="0"/>
              <a:t>Se </a:t>
            </a:r>
            <a:r>
              <a:rPr sz="2400" dirty="0" err="1"/>
              <a:t>convierte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estándar</a:t>
            </a:r>
            <a:r>
              <a:rPr sz="2400" dirty="0"/>
              <a:t> </a:t>
            </a:r>
            <a:r>
              <a:rPr sz="2400" dirty="0" err="1"/>
              <a:t>internacional</a:t>
            </a:r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58666"/>
            <a:ext cx="7765322" cy="970450"/>
          </a:xfrm>
        </p:spPr>
        <p:txBody>
          <a:bodyPr/>
          <a:lstStyle/>
          <a:p>
            <a:r>
              <a:rPr dirty="0" err="1"/>
              <a:t>Evolución</a:t>
            </a:r>
            <a:r>
              <a:rPr dirty="0"/>
              <a:t> de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591774"/>
            <a:ext cx="7765322" cy="4058751"/>
          </a:xfrm>
        </p:spPr>
        <p:txBody>
          <a:bodyPr>
            <a:normAutofit/>
          </a:bodyPr>
          <a:lstStyle/>
          <a:p>
            <a:r>
              <a:rPr sz="2400" dirty="0"/>
              <a:t>UML 1.x (1997–2003)</a:t>
            </a:r>
          </a:p>
          <a:p>
            <a:pPr lvl="1"/>
            <a:r>
              <a:rPr sz="2400" dirty="0"/>
              <a:t>UML 2.0 (2005) – </a:t>
            </a:r>
            <a:r>
              <a:rPr sz="2400" dirty="0" err="1"/>
              <a:t>Mejora</a:t>
            </a:r>
            <a:r>
              <a:rPr sz="2400" dirty="0"/>
              <a:t> </a:t>
            </a:r>
            <a:r>
              <a:rPr sz="2400" dirty="0" err="1"/>
              <a:t>estructural</a:t>
            </a:r>
            <a:r>
              <a:rPr sz="2400" dirty="0"/>
              <a:t> </a:t>
            </a:r>
            <a:r>
              <a:rPr sz="2400" dirty="0" err="1"/>
              <a:t>importante</a:t>
            </a:r>
            <a:endParaRPr sz="2400" dirty="0"/>
          </a:p>
          <a:p>
            <a:pPr lvl="1"/>
            <a:r>
              <a:rPr sz="2400" dirty="0"/>
              <a:t>UML 2.x – </a:t>
            </a:r>
            <a:r>
              <a:rPr sz="2400" dirty="0" err="1"/>
              <a:t>Versiones</a:t>
            </a:r>
            <a:r>
              <a:rPr sz="2400" dirty="0"/>
              <a:t> </a:t>
            </a:r>
            <a:r>
              <a:rPr sz="2400" dirty="0" err="1"/>
              <a:t>actuales</a:t>
            </a:r>
            <a:endParaRPr sz="2400" dirty="0"/>
          </a:p>
          <a:p>
            <a:pPr lvl="1"/>
            <a:r>
              <a:rPr sz="2400" dirty="0"/>
              <a:t>Mayor </a:t>
            </a:r>
            <a:r>
              <a:rPr sz="2400" dirty="0" err="1"/>
              <a:t>precisión</a:t>
            </a:r>
            <a:r>
              <a:rPr sz="2400" dirty="0"/>
              <a:t> y </a:t>
            </a:r>
            <a:r>
              <a:rPr sz="2400" dirty="0" err="1"/>
              <a:t>nuevos</a:t>
            </a:r>
            <a:r>
              <a:rPr sz="2400" dirty="0"/>
              <a:t> </a:t>
            </a:r>
            <a:r>
              <a:rPr sz="2400" dirty="0" err="1"/>
              <a:t>diagramas</a:t>
            </a:r>
            <a:endParaRPr sz="2400" dirty="0"/>
          </a:p>
        </p:txBody>
      </p:sp>
      <p:pic>
        <p:nvPicPr>
          <p:cNvPr id="6146" name="Picture 2" descr="Evolución de UML by Jhon Alexander Guambo Tigre on Prezi">
            <a:extLst>
              <a:ext uri="{FF2B5EF4-FFF2-40B4-BE49-F238E27FC236}">
                <a16:creationId xmlns:a16="http://schemas.microsoft.com/office/drawing/2014/main" id="{4DD474C4-A380-616F-5AB5-9A43BE86D7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176" y="3761825"/>
            <a:ext cx="5009662" cy="2817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 UML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99736"/>
            <a:ext cx="7765322" cy="4058751"/>
          </a:xfrm>
        </p:spPr>
        <p:txBody>
          <a:bodyPr>
            <a:normAutofit/>
          </a:bodyPr>
          <a:lstStyle/>
          <a:p>
            <a:r>
              <a:rPr sz="2400" dirty="0" err="1"/>
              <a:t>Visualizar</a:t>
            </a:r>
            <a:r>
              <a:rPr sz="2400" dirty="0"/>
              <a:t> </a:t>
            </a:r>
            <a:r>
              <a:rPr sz="2400" dirty="0" err="1"/>
              <a:t>sistemas</a:t>
            </a:r>
            <a:r>
              <a:rPr sz="2400" dirty="0"/>
              <a:t> </a:t>
            </a:r>
            <a:r>
              <a:rPr sz="2400" dirty="0" err="1"/>
              <a:t>complejos</a:t>
            </a:r>
            <a:endParaRPr sz="2400" dirty="0"/>
          </a:p>
          <a:p>
            <a:pPr lvl="1"/>
            <a:r>
              <a:rPr sz="2400" dirty="0" err="1"/>
              <a:t>Reducir</a:t>
            </a:r>
            <a:r>
              <a:rPr sz="2400" dirty="0"/>
              <a:t> </a:t>
            </a:r>
            <a:r>
              <a:rPr sz="2400" dirty="0" err="1"/>
              <a:t>errores</a:t>
            </a:r>
            <a:r>
              <a:rPr sz="2400" dirty="0"/>
              <a:t> antes de </a:t>
            </a:r>
            <a:r>
              <a:rPr sz="2400" dirty="0" err="1"/>
              <a:t>programar</a:t>
            </a:r>
            <a:endParaRPr sz="2400" dirty="0"/>
          </a:p>
          <a:p>
            <a:pPr lvl="1"/>
            <a:r>
              <a:rPr sz="2400" dirty="0" err="1"/>
              <a:t>Mejorar</a:t>
            </a:r>
            <a:r>
              <a:rPr sz="2400" dirty="0"/>
              <a:t> </a:t>
            </a:r>
            <a:r>
              <a:rPr sz="2400" dirty="0" err="1"/>
              <a:t>comunicación</a:t>
            </a:r>
            <a:r>
              <a:rPr sz="2400" dirty="0"/>
              <a:t> entre </a:t>
            </a:r>
            <a:r>
              <a:rPr sz="2400" dirty="0" err="1"/>
              <a:t>desarrolladores</a:t>
            </a:r>
            <a:endParaRPr sz="2400" dirty="0"/>
          </a:p>
          <a:p>
            <a:pPr lvl="1"/>
            <a:r>
              <a:rPr sz="2400" dirty="0" err="1"/>
              <a:t>Documentar</a:t>
            </a:r>
            <a:r>
              <a:rPr sz="2400" dirty="0"/>
              <a:t> </a:t>
            </a:r>
            <a:r>
              <a:rPr sz="2400" dirty="0" err="1"/>
              <a:t>proyectos</a:t>
            </a:r>
            <a:r>
              <a:rPr sz="2400" dirty="0"/>
              <a:t> </a:t>
            </a:r>
            <a:r>
              <a:rPr sz="2400" dirty="0" err="1"/>
              <a:t>grandes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Tipos de diagramas UML | Más información sobre los 14 tipos de diagramas UML">
            <a:extLst>
              <a:ext uri="{FF2B5EF4-FFF2-40B4-BE49-F238E27FC236}">
                <a16:creationId xmlns:a16="http://schemas.microsoft.com/office/drawing/2014/main" id="{710266A5-A01F-24F8-50D0-C868AFB64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12" y="803141"/>
            <a:ext cx="7877576" cy="525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Requerimientos</a:t>
            </a:r>
            <a:r>
              <a:rPr dirty="0"/>
              <a:t> de Sistemas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 err="1"/>
              <a:t>Definen</a:t>
            </a:r>
            <a:r>
              <a:rPr sz="2400" dirty="0"/>
              <a:t> lo </a:t>
            </a:r>
            <a:r>
              <a:rPr sz="2400" dirty="0" err="1"/>
              <a:t>que</a:t>
            </a:r>
            <a:r>
              <a:rPr sz="2400" dirty="0"/>
              <a:t> </a:t>
            </a:r>
            <a:r>
              <a:rPr sz="2400" dirty="0" err="1"/>
              <a:t>el</a:t>
            </a:r>
            <a:r>
              <a:rPr sz="2400" dirty="0"/>
              <a:t> </a:t>
            </a:r>
            <a:r>
              <a:rPr sz="2400" dirty="0" err="1"/>
              <a:t>sistema</a:t>
            </a:r>
            <a:r>
              <a:rPr sz="2400" dirty="0"/>
              <a:t> </a:t>
            </a:r>
            <a:r>
              <a:rPr sz="2400" dirty="0" err="1"/>
              <a:t>debe</a:t>
            </a:r>
            <a:r>
              <a:rPr sz="2400" dirty="0"/>
              <a:t> </a:t>
            </a:r>
            <a:r>
              <a:rPr sz="2400" dirty="0" err="1"/>
              <a:t>cumplir</a:t>
            </a:r>
            <a:endParaRPr sz="2400" dirty="0"/>
          </a:p>
          <a:p>
            <a:pPr lvl="1"/>
            <a:r>
              <a:rPr sz="2400" dirty="0"/>
              <a:t>Base fundamental del </a:t>
            </a:r>
            <a:r>
              <a:rPr sz="2400" dirty="0" err="1"/>
              <a:t>desarrollo</a:t>
            </a:r>
            <a:endParaRPr sz="2400" dirty="0"/>
          </a:p>
          <a:p>
            <a:pPr lvl="1"/>
            <a:r>
              <a:rPr sz="2400" dirty="0"/>
              <a:t>Se </a:t>
            </a:r>
            <a:r>
              <a:rPr sz="2400" dirty="0" err="1"/>
              <a:t>documentan</a:t>
            </a:r>
            <a:r>
              <a:rPr sz="2400" dirty="0"/>
              <a:t> antes de </a:t>
            </a:r>
            <a:r>
              <a:rPr sz="2400" dirty="0" err="1"/>
              <a:t>programar</a:t>
            </a:r>
            <a:endParaRPr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Importancia de los Requerimientos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99736"/>
            <a:ext cx="7765322" cy="4058751"/>
          </a:xfrm>
        </p:spPr>
        <p:txBody>
          <a:bodyPr>
            <a:normAutofit/>
          </a:bodyPr>
          <a:lstStyle/>
          <a:p>
            <a:r>
              <a:rPr sz="2400" dirty="0" err="1"/>
              <a:t>Evitan</a:t>
            </a:r>
            <a:r>
              <a:rPr sz="2400" dirty="0"/>
              <a:t> </a:t>
            </a:r>
            <a:r>
              <a:rPr sz="2400" dirty="0" err="1"/>
              <a:t>malentendidos</a:t>
            </a:r>
            <a:r>
              <a:rPr sz="2400" dirty="0"/>
              <a:t> con </a:t>
            </a:r>
            <a:r>
              <a:rPr sz="2400" dirty="0" err="1"/>
              <a:t>el</a:t>
            </a:r>
            <a:r>
              <a:rPr sz="2400" dirty="0"/>
              <a:t> </a:t>
            </a:r>
            <a:r>
              <a:rPr sz="2400" dirty="0" err="1"/>
              <a:t>cliente</a:t>
            </a:r>
            <a:endParaRPr sz="2400" dirty="0"/>
          </a:p>
          <a:p>
            <a:pPr lvl="1"/>
            <a:r>
              <a:rPr sz="2400" dirty="0" err="1"/>
              <a:t>Reducen</a:t>
            </a:r>
            <a:r>
              <a:rPr sz="2400" dirty="0"/>
              <a:t> </a:t>
            </a:r>
            <a:r>
              <a:rPr sz="2400" dirty="0" err="1"/>
              <a:t>costos</a:t>
            </a:r>
            <a:r>
              <a:rPr sz="2400" dirty="0"/>
              <a:t> de </a:t>
            </a:r>
            <a:r>
              <a:rPr sz="2400" dirty="0" err="1"/>
              <a:t>corrección</a:t>
            </a:r>
            <a:endParaRPr sz="2400" dirty="0"/>
          </a:p>
          <a:p>
            <a:pPr lvl="1"/>
            <a:r>
              <a:rPr sz="2400" dirty="0" err="1"/>
              <a:t>Mejoran</a:t>
            </a:r>
            <a:r>
              <a:rPr sz="2400" dirty="0"/>
              <a:t> </a:t>
            </a:r>
            <a:r>
              <a:rPr sz="2400" dirty="0" err="1"/>
              <a:t>calidad</a:t>
            </a:r>
            <a:r>
              <a:rPr sz="2400" dirty="0"/>
              <a:t> del software</a:t>
            </a:r>
          </a:p>
          <a:p>
            <a:pPr lvl="1"/>
            <a:r>
              <a:rPr sz="2400" dirty="0" err="1"/>
              <a:t>Facilitan</a:t>
            </a:r>
            <a:r>
              <a:rPr sz="2400" dirty="0"/>
              <a:t> </a:t>
            </a:r>
            <a:r>
              <a:rPr sz="2400" dirty="0" err="1"/>
              <a:t>planificación</a:t>
            </a:r>
            <a:r>
              <a:rPr sz="2400" dirty="0"/>
              <a:t> del </a:t>
            </a:r>
            <a:r>
              <a:rPr sz="2400" dirty="0" err="1"/>
              <a:t>proyecto</a:t>
            </a:r>
            <a:endParaRPr sz="2400" dirty="0"/>
          </a:p>
        </p:txBody>
      </p:sp>
      <p:pic>
        <p:nvPicPr>
          <p:cNvPr id="8194" name="Picture 2" descr="Vectores de Like emoji, imágenes vectoriales | DepositPhotos">
            <a:extLst>
              <a:ext uri="{FF2B5EF4-FFF2-40B4-BE49-F238E27FC236}">
                <a16:creationId xmlns:a16="http://schemas.microsoft.com/office/drawing/2014/main" id="{6ECC0D03-7AB3-E51B-6E56-6174AABEA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467" y="1914561"/>
            <a:ext cx="2162175" cy="2114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9339" y="379755"/>
            <a:ext cx="7765322" cy="970450"/>
          </a:xfrm>
        </p:spPr>
        <p:txBody>
          <a:bodyPr/>
          <a:lstStyle/>
          <a:p>
            <a:r>
              <a:rPr dirty="0" err="1"/>
              <a:t>Clasificación</a:t>
            </a:r>
            <a:r>
              <a:rPr dirty="0"/>
              <a:t> General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1233C6E-EAB8-5BC2-27B9-8C831295A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" y="1580050"/>
            <a:ext cx="8707902" cy="48981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Documento</a:t>
            </a:r>
            <a:r>
              <a:rPr dirty="0"/>
              <a:t> SRS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6706" y="1929397"/>
            <a:ext cx="5349694" cy="4058751"/>
          </a:xfrm>
        </p:spPr>
        <p:txBody>
          <a:bodyPr>
            <a:normAutofit/>
          </a:bodyPr>
          <a:lstStyle/>
          <a:p>
            <a:r>
              <a:rPr sz="2400" dirty="0"/>
              <a:t>Software Requirements Specification</a:t>
            </a:r>
          </a:p>
          <a:p>
            <a:pPr lvl="1"/>
            <a:r>
              <a:rPr sz="2400" dirty="0" err="1"/>
              <a:t>Documento</a:t>
            </a:r>
            <a:r>
              <a:rPr sz="2400" dirty="0"/>
              <a:t> formal de </a:t>
            </a:r>
            <a:r>
              <a:rPr sz="2400" dirty="0" err="1"/>
              <a:t>requerimientos</a:t>
            </a:r>
            <a:endParaRPr sz="2400" dirty="0"/>
          </a:p>
          <a:p>
            <a:pPr lvl="1"/>
            <a:r>
              <a:rPr sz="2400" dirty="0" err="1"/>
              <a:t>Incluye</a:t>
            </a:r>
            <a:r>
              <a:rPr sz="2400" dirty="0"/>
              <a:t> </a:t>
            </a:r>
            <a:r>
              <a:rPr sz="2400" dirty="0" err="1"/>
              <a:t>objetivos</a:t>
            </a:r>
            <a:r>
              <a:rPr sz="2400" dirty="0"/>
              <a:t>, </a:t>
            </a:r>
            <a:r>
              <a:rPr sz="2400" dirty="0" err="1"/>
              <a:t>restricciones</a:t>
            </a:r>
            <a:r>
              <a:rPr sz="2400" dirty="0"/>
              <a:t> y </a:t>
            </a:r>
            <a:r>
              <a:rPr sz="2400" dirty="0" err="1"/>
              <a:t>casos</a:t>
            </a:r>
            <a:r>
              <a:rPr sz="2400" dirty="0"/>
              <a:t> de </a:t>
            </a:r>
            <a:r>
              <a:rPr sz="2400" dirty="0" err="1"/>
              <a:t>uso</a:t>
            </a:r>
            <a:endParaRPr sz="2400" dirty="0"/>
          </a:p>
        </p:txBody>
      </p:sp>
      <p:pic>
        <p:nvPicPr>
          <p:cNvPr id="10242" name="Picture 2" descr="Documento SRS - EJEMPLO (1) (Recuperado Automáticamente) | PDF | Usuario  (informática) | Lenguaje de modelado unificado">
            <a:extLst>
              <a:ext uri="{FF2B5EF4-FFF2-40B4-BE49-F238E27FC236}">
                <a16:creationId xmlns:a16="http://schemas.microsoft.com/office/drawing/2014/main" id="{65F39F2E-F459-E9D6-6AC4-5B0F39148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756" y="1929396"/>
            <a:ext cx="3044064" cy="4058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Relación</a:t>
            </a:r>
            <a:r>
              <a:rPr dirty="0"/>
              <a:t> entre UML y </a:t>
            </a:r>
            <a:r>
              <a:rPr dirty="0" err="1"/>
              <a:t>Requerimientos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D864E6-1FBD-7E09-DBDC-F2FBB30D7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94" y="1748861"/>
            <a:ext cx="7345425" cy="4896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Conclusión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UML es clave para </a:t>
            </a:r>
            <a:r>
              <a:rPr sz="2400" dirty="0" err="1"/>
              <a:t>modelar</a:t>
            </a:r>
            <a:r>
              <a:rPr sz="2400" dirty="0"/>
              <a:t> </a:t>
            </a:r>
            <a:r>
              <a:rPr sz="2400" dirty="0" err="1"/>
              <a:t>sistemas</a:t>
            </a:r>
            <a:endParaRPr sz="2400" dirty="0"/>
          </a:p>
          <a:p>
            <a:pPr lvl="1"/>
            <a:r>
              <a:rPr sz="2400" dirty="0"/>
              <a:t>Los </a:t>
            </a:r>
            <a:r>
              <a:rPr sz="2400" dirty="0" err="1"/>
              <a:t>requerimientos</a:t>
            </a:r>
            <a:r>
              <a:rPr sz="2400" dirty="0"/>
              <a:t> </a:t>
            </a:r>
            <a:r>
              <a:rPr sz="2400" dirty="0" err="1"/>
              <a:t>definen</a:t>
            </a:r>
            <a:r>
              <a:rPr sz="2400" dirty="0"/>
              <a:t> </a:t>
            </a:r>
            <a:r>
              <a:rPr sz="2400" dirty="0" err="1"/>
              <a:t>qué</a:t>
            </a:r>
            <a:r>
              <a:rPr sz="2400" dirty="0"/>
              <a:t> y </a:t>
            </a:r>
            <a:r>
              <a:rPr sz="2400" dirty="0" err="1"/>
              <a:t>cómo</a:t>
            </a:r>
            <a:endParaRPr sz="2400" dirty="0"/>
          </a:p>
          <a:p>
            <a:pPr lvl="1"/>
            <a:r>
              <a:rPr sz="2400" dirty="0"/>
              <a:t>Ambos </a:t>
            </a:r>
            <a:r>
              <a:rPr sz="2400" dirty="0" err="1"/>
              <a:t>garantizan</a:t>
            </a:r>
            <a:r>
              <a:rPr sz="2400" dirty="0"/>
              <a:t> </a:t>
            </a:r>
            <a:r>
              <a:rPr sz="2400" dirty="0" err="1"/>
              <a:t>éxito</a:t>
            </a:r>
            <a:r>
              <a:rPr sz="2400" dirty="0"/>
              <a:t> </a:t>
            </a:r>
            <a:r>
              <a:rPr sz="2400" dirty="0" err="1"/>
              <a:t>en</a:t>
            </a:r>
            <a:r>
              <a:rPr sz="2400" dirty="0"/>
              <a:t> </a:t>
            </a:r>
            <a:r>
              <a:rPr sz="2400" dirty="0" err="1"/>
              <a:t>proyectos</a:t>
            </a:r>
            <a:r>
              <a:rPr sz="2400" dirty="0"/>
              <a:t> de software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Pizarra</Template>
  <TotalTime>30</TotalTime>
  <Words>231</Words>
  <Application>Microsoft Office PowerPoint</Application>
  <PresentationFormat>Presentación en pantalla (4:3)</PresentationFormat>
  <Paragraphs>49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Calisto MT</vt:lpstr>
      <vt:lpstr>Wingdings 2</vt:lpstr>
      <vt:lpstr>Pizarra</vt:lpstr>
      <vt:lpstr>Historia de UML</vt:lpstr>
      <vt:lpstr>Contexto Histórico (Años 80)</vt:lpstr>
      <vt:lpstr>Problema en la Industria</vt:lpstr>
      <vt:lpstr>Los Tres Creadores</vt:lpstr>
      <vt:lpstr>Unificación en 1994</vt:lpstr>
      <vt:lpstr>Adopción Oficial (1997)</vt:lpstr>
      <vt:lpstr>Evolución de UML</vt:lpstr>
      <vt:lpstr>Objetivos de UML</vt:lpstr>
      <vt:lpstr>Presentación de PowerPoint</vt:lpstr>
      <vt:lpstr>Requerimientos de Sistemas</vt:lpstr>
      <vt:lpstr>Importancia de los Requerimientos</vt:lpstr>
      <vt:lpstr>Clasificación General</vt:lpstr>
      <vt:lpstr>Documento SRS</vt:lpstr>
      <vt:lpstr>Relación entre UML y Requerimientos</vt:lpstr>
      <vt:lpstr>Conclusión General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Mendez Emanuel</cp:lastModifiedBy>
  <cp:revision>4</cp:revision>
  <dcterms:created xsi:type="dcterms:W3CDTF">2013-01-27T09:14:16Z</dcterms:created>
  <dcterms:modified xsi:type="dcterms:W3CDTF">2026-03-10T03:02:08Z</dcterms:modified>
  <cp:category/>
</cp:coreProperties>
</file>