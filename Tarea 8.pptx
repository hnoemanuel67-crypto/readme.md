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236" y="-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C8FF"/>
                </a:solidFill>
              </a:rPr>
              <a:t>Portada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Principios de UI/UX</a:t>
            </a:r>
          </a:p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Usabilidad y Heurísticas de Nielsen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 dirty="0">
                <a:solidFill>
                  <a:srgbClr val="00C8FF"/>
                </a:solidFill>
              </a:rPr>
              <a:t>¿</a:t>
            </a:r>
            <a:r>
              <a:rPr sz="3800" b="1" dirty="0" err="1">
                <a:solidFill>
                  <a:srgbClr val="00C8FF"/>
                </a:solidFill>
              </a:rPr>
              <a:t>Qué</a:t>
            </a:r>
            <a:r>
              <a:rPr sz="3800" b="1" dirty="0">
                <a:solidFill>
                  <a:srgbClr val="00C8FF"/>
                </a:solidFill>
              </a:rPr>
              <a:t> es UI?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320800"/>
            <a:ext cx="8229600" cy="4525963"/>
          </a:xfrm>
        </p:spPr>
        <p:txBody>
          <a:bodyPr/>
          <a:lstStyle/>
          <a:p>
            <a:pPr algn="l">
              <a:defRPr sz="1800"/>
            </a:pPr>
            <a:r>
              <a:rPr sz="2600" dirty="0">
                <a:solidFill>
                  <a:srgbClr val="FFFFFF"/>
                </a:solidFill>
              </a:rPr>
              <a:t>UI (User Interface) es la </a:t>
            </a:r>
            <a:r>
              <a:rPr sz="2600" dirty="0" err="1">
                <a:solidFill>
                  <a:srgbClr val="FFFFFF"/>
                </a:solidFill>
              </a:rPr>
              <a:t>interfaz</a:t>
            </a:r>
            <a:r>
              <a:rPr sz="2600" dirty="0">
                <a:solidFill>
                  <a:srgbClr val="FFFFFF"/>
                </a:solidFill>
              </a:rPr>
              <a:t> visual con la </a:t>
            </a:r>
            <a:r>
              <a:rPr sz="2600" dirty="0" err="1">
                <a:solidFill>
                  <a:srgbClr val="FFFFFF"/>
                </a:solidFill>
              </a:rPr>
              <a:t>que</a:t>
            </a:r>
            <a:r>
              <a:rPr sz="2600" dirty="0">
                <a:solidFill>
                  <a:srgbClr val="FFFFFF"/>
                </a:solidFill>
              </a:rPr>
              <a:t> </a:t>
            </a:r>
            <a:r>
              <a:rPr sz="2600" dirty="0" err="1">
                <a:solidFill>
                  <a:srgbClr val="FFFFFF"/>
                </a:solidFill>
              </a:rPr>
              <a:t>interactúa</a:t>
            </a:r>
            <a:r>
              <a:rPr sz="2600" dirty="0">
                <a:solidFill>
                  <a:srgbClr val="FFFFFF"/>
                </a:solidFill>
              </a:rPr>
              <a:t> </a:t>
            </a:r>
            <a:r>
              <a:rPr sz="2600" dirty="0" err="1">
                <a:solidFill>
                  <a:srgbClr val="FFFFFF"/>
                </a:solidFill>
              </a:rPr>
              <a:t>el</a:t>
            </a:r>
            <a:r>
              <a:rPr sz="2600" dirty="0">
                <a:solidFill>
                  <a:srgbClr val="FFFFFF"/>
                </a:solidFill>
              </a:rPr>
              <a:t> </a:t>
            </a:r>
            <a:r>
              <a:rPr sz="2600" dirty="0" err="1">
                <a:solidFill>
                  <a:srgbClr val="FFFFFF"/>
                </a:solidFill>
              </a:rPr>
              <a:t>usuario</a:t>
            </a:r>
            <a:r>
              <a:rPr sz="2600" dirty="0">
                <a:solidFill>
                  <a:srgbClr val="FFFFFF"/>
                </a:solidFill>
              </a:rPr>
              <a:t>.</a:t>
            </a:r>
          </a:p>
          <a:p>
            <a:pPr algn="l">
              <a:defRPr sz="1800"/>
            </a:pPr>
            <a:r>
              <a:rPr sz="2600" dirty="0" err="1">
                <a:solidFill>
                  <a:srgbClr val="FFFFFF"/>
                </a:solidFill>
              </a:rPr>
              <a:t>Incluye</a:t>
            </a:r>
            <a:r>
              <a:rPr sz="2600" dirty="0">
                <a:solidFill>
                  <a:srgbClr val="FFFFFF"/>
                </a:solidFill>
              </a:rPr>
              <a:t> </a:t>
            </a:r>
            <a:r>
              <a:rPr sz="2600" dirty="0" err="1">
                <a:solidFill>
                  <a:srgbClr val="FFFFFF"/>
                </a:solidFill>
              </a:rPr>
              <a:t>botones</a:t>
            </a:r>
            <a:r>
              <a:rPr sz="2600" dirty="0">
                <a:solidFill>
                  <a:srgbClr val="FFFFFF"/>
                </a:solidFill>
              </a:rPr>
              <a:t>, </a:t>
            </a:r>
            <a:r>
              <a:rPr sz="2600" dirty="0" err="1">
                <a:solidFill>
                  <a:srgbClr val="FFFFFF"/>
                </a:solidFill>
              </a:rPr>
              <a:t>colores</a:t>
            </a:r>
            <a:r>
              <a:rPr sz="2600" dirty="0">
                <a:solidFill>
                  <a:srgbClr val="FFFFFF"/>
                </a:solidFill>
              </a:rPr>
              <a:t>, </a:t>
            </a:r>
            <a:r>
              <a:rPr sz="2600" dirty="0" err="1">
                <a:solidFill>
                  <a:srgbClr val="FFFFFF"/>
                </a:solidFill>
              </a:rPr>
              <a:t>tipografía</a:t>
            </a:r>
            <a:r>
              <a:rPr sz="2600" dirty="0">
                <a:solidFill>
                  <a:srgbClr val="FFFFFF"/>
                </a:solidFill>
              </a:rPr>
              <a:t> y </a:t>
            </a:r>
            <a:r>
              <a:rPr sz="2600" dirty="0" err="1">
                <a:solidFill>
                  <a:srgbClr val="FFFFFF"/>
                </a:solidFill>
              </a:rPr>
              <a:t>diseño</a:t>
            </a:r>
            <a:r>
              <a:rPr sz="2600" dirty="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1026" name="Picture 2" descr="Sabes lo que significan las siglas UI? 👁‍🗨La #UI (User Interface -  Interfaz de Usuario) principalmente presenta las posibilidades de  interacción junto con el diseño vis | Multiplica Talent | Facebook">
            <a:extLst>
              <a:ext uri="{FF2B5EF4-FFF2-40B4-BE49-F238E27FC236}">
                <a16:creationId xmlns:a16="http://schemas.microsoft.com/office/drawing/2014/main" id="{1E2ACDB5-092C-F0EC-C808-BFC9F1F26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727" y="2994819"/>
            <a:ext cx="3588543" cy="3588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 dirty="0">
                <a:solidFill>
                  <a:srgbClr val="00C8FF"/>
                </a:solidFill>
              </a:rPr>
              <a:t>¿</a:t>
            </a:r>
            <a:r>
              <a:rPr sz="3800" b="1" dirty="0" err="1">
                <a:solidFill>
                  <a:srgbClr val="00C8FF"/>
                </a:solidFill>
              </a:rPr>
              <a:t>Qué</a:t>
            </a:r>
            <a:r>
              <a:rPr sz="3800" b="1" dirty="0">
                <a:solidFill>
                  <a:srgbClr val="00C8FF"/>
                </a:solidFill>
              </a:rPr>
              <a:t> es UX?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UX (User Experience) se enfoca en la experiencia completa del usuario.</a:t>
            </a:r>
          </a:p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Busca que el producto sea útil, fácil y agradable.</a:t>
            </a:r>
          </a:p>
        </p:txBody>
      </p:sp>
      <p:pic>
        <p:nvPicPr>
          <p:cNvPr id="2052" name="Picture 4" descr="Qué es el User Experience (UX) y por qué es importante?">
            <a:extLst>
              <a:ext uri="{FF2B5EF4-FFF2-40B4-BE49-F238E27FC236}">
                <a16:creationId xmlns:a16="http://schemas.microsoft.com/office/drawing/2014/main" id="{447DCD24-7306-CE0B-C736-E4E33EDF4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00" y="3343266"/>
            <a:ext cx="7061200" cy="296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2B503-0363-5289-76B6-BA46BAE4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SV" sz="3800" dirty="0">
                <a:solidFill>
                  <a:srgbClr val="0070C0"/>
                </a:solidFill>
              </a:rPr>
              <a:t>DIFERENCIAS</a:t>
            </a:r>
          </a:p>
        </p:txBody>
      </p:sp>
      <p:pic>
        <p:nvPicPr>
          <p:cNvPr id="3074" name="Picture 2" descr="Diseño UI vs. UX: ¿Cuál es la diferencia? | Coursera">
            <a:extLst>
              <a:ext uri="{FF2B5EF4-FFF2-40B4-BE49-F238E27FC236}">
                <a16:creationId xmlns:a16="http://schemas.microsoft.com/office/drawing/2014/main" id="{C7A19398-7B2B-717C-7570-4995EFF76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6638"/>
            <a:ext cx="9144000" cy="478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142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 dirty="0" err="1">
                <a:solidFill>
                  <a:srgbClr val="00C8FF"/>
                </a:solidFill>
              </a:rPr>
              <a:t>Principios</a:t>
            </a:r>
            <a:r>
              <a:rPr sz="3800" b="1" dirty="0">
                <a:solidFill>
                  <a:srgbClr val="00C8FF"/>
                </a:solidFill>
              </a:rPr>
              <a:t> de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8846"/>
            <a:ext cx="8229600" cy="4525963"/>
          </a:xfrm>
        </p:spPr>
        <p:txBody>
          <a:bodyPr/>
          <a:lstStyle/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• Claridad visual</a:t>
            </a:r>
          </a:p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• Consistencia</a:t>
            </a:r>
          </a:p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• Jerarquía visual</a:t>
            </a:r>
          </a:p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• Accesibilidad</a:t>
            </a:r>
          </a:p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• Retroalimentación inmediata</a:t>
            </a:r>
          </a:p>
        </p:txBody>
      </p:sp>
      <p:pic>
        <p:nvPicPr>
          <p:cNvPr id="4100" name="Picture 4" descr="Si tu UI se siente &quot;rara&quot; pero no sabes por qué, probablemente está  rompiendo una de estas reglas. 10 principios de diseño UI elegante que vale  la pena tener siempre cerca 👇">
            <a:extLst>
              <a:ext uri="{FF2B5EF4-FFF2-40B4-BE49-F238E27FC236}">
                <a16:creationId xmlns:a16="http://schemas.microsoft.com/office/drawing/2014/main" id="{F3C7BE1B-A1D4-BED6-80B0-627FC91DA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286" y="1318846"/>
            <a:ext cx="3503514" cy="4375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 dirty="0" err="1">
                <a:solidFill>
                  <a:srgbClr val="00C8FF"/>
                </a:solidFill>
              </a:rPr>
              <a:t>Principios</a:t>
            </a:r>
            <a:r>
              <a:rPr sz="3800" b="1" dirty="0">
                <a:solidFill>
                  <a:srgbClr val="00C8FF"/>
                </a:solidFill>
              </a:rPr>
              <a:t> de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17638"/>
            <a:ext cx="8229600" cy="4525963"/>
          </a:xfrm>
        </p:spPr>
        <p:txBody>
          <a:bodyPr/>
          <a:lstStyle/>
          <a:p>
            <a:pPr algn="l">
              <a:defRPr sz="1800"/>
            </a:pPr>
            <a:r>
              <a:rPr sz="2600" dirty="0">
                <a:solidFill>
                  <a:srgbClr val="FFFFFF"/>
                </a:solidFill>
              </a:rPr>
              <a:t>• </a:t>
            </a:r>
            <a:r>
              <a:rPr sz="2600" dirty="0" err="1">
                <a:solidFill>
                  <a:srgbClr val="FFFFFF"/>
                </a:solidFill>
              </a:rPr>
              <a:t>Diseño</a:t>
            </a:r>
            <a:r>
              <a:rPr sz="2600" dirty="0">
                <a:solidFill>
                  <a:srgbClr val="FFFFFF"/>
                </a:solidFill>
              </a:rPr>
              <a:t> </a:t>
            </a:r>
            <a:r>
              <a:rPr sz="2600" dirty="0" err="1">
                <a:solidFill>
                  <a:srgbClr val="FFFFFF"/>
                </a:solidFill>
              </a:rPr>
              <a:t>centrado</a:t>
            </a:r>
            <a:r>
              <a:rPr sz="2600" dirty="0">
                <a:solidFill>
                  <a:srgbClr val="FFFFFF"/>
                </a:solidFill>
              </a:rPr>
              <a:t> </a:t>
            </a:r>
            <a:r>
              <a:rPr sz="2600" dirty="0" err="1">
                <a:solidFill>
                  <a:srgbClr val="FFFFFF"/>
                </a:solidFill>
              </a:rPr>
              <a:t>en</a:t>
            </a:r>
            <a:r>
              <a:rPr sz="2600" dirty="0">
                <a:solidFill>
                  <a:srgbClr val="FFFFFF"/>
                </a:solidFill>
              </a:rPr>
              <a:t> </a:t>
            </a:r>
            <a:r>
              <a:rPr sz="2600" dirty="0" err="1">
                <a:solidFill>
                  <a:srgbClr val="FFFFFF"/>
                </a:solidFill>
              </a:rPr>
              <a:t>el</a:t>
            </a:r>
            <a:r>
              <a:rPr sz="2600" dirty="0">
                <a:solidFill>
                  <a:srgbClr val="FFFFFF"/>
                </a:solidFill>
              </a:rPr>
              <a:t> </a:t>
            </a:r>
            <a:r>
              <a:rPr sz="2600" dirty="0" err="1">
                <a:solidFill>
                  <a:srgbClr val="FFFFFF"/>
                </a:solidFill>
              </a:rPr>
              <a:t>usuario</a:t>
            </a:r>
            <a:endParaRPr sz="2600" dirty="0">
              <a:solidFill>
                <a:srgbClr val="FFFFFF"/>
              </a:solidFill>
            </a:endParaRPr>
          </a:p>
          <a:p>
            <a:pPr algn="l">
              <a:defRPr sz="1800"/>
            </a:pPr>
            <a:r>
              <a:rPr sz="2600" dirty="0">
                <a:solidFill>
                  <a:srgbClr val="FFFFFF"/>
                </a:solidFill>
              </a:rPr>
              <a:t>• </a:t>
            </a:r>
            <a:r>
              <a:rPr sz="2600" dirty="0" err="1">
                <a:solidFill>
                  <a:srgbClr val="FFFFFF"/>
                </a:solidFill>
              </a:rPr>
              <a:t>Facilidad</a:t>
            </a:r>
            <a:r>
              <a:rPr sz="2600" dirty="0">
                <a:solidFill>
                  <a:srgbClr val="FFFFFF"/>
                </a:solidFill>
              </a:rPr>
              <a:t> de </a:t>
            </a:r>
            <a:r>
              <a:rPr sz="2600" dirty="0" err="1">
                <a:solidFill>
                  <a:srgbClr val="FFFFFF"/>
                </a:solidFill>
              </a:rPr>
              <a:t>uso</a:t>
            </a:r>
            <a:endParaRPr sz="2600" dirty="0">
              <a:solidFill>
                <a:srgbClr val="FFFFFF"/>
              </a:solidFill>
            </a:endParaRPr>
          </a:p>
          <a:p>
            <a:pPr algn="l">
              <a:defRPr sz="1800"/>
            </a:pPr>
            <a:r>
              <a:rPr sz="2600" dirty="0">
                <a:solidFill>
                  <a:srgbClr val="FFFFFF"/>
                </a:solidFill>
              </a:rPr>
              <a:t>• </a:t>
            </a:r>
            <a:r>
              <a:rPr sz="2600" dirty="0" err="1">
                <a:solidFill>
                  <a:srgbClr val="FFFFFF"/>
                </a:solidFill>
              </a:rPr>
              <a:t>Navegación</a:t>
            </a:r>
            <a:r>
              <a:rPr sz="2600" dirty="0">
                <a:solidFill>
                  <a:srgbClr val="FFFFFF"/>
                </a:solidFill>
              </a:rPr>
              <a:t> </a:t>
            </a:r>
            <a:r>
              <a:rPr sz="2600" dirty="0" err="1">
                <a:solidFill>
                  <a:srgbClr val="FFFFFF"/>
                </a:solidFill>
              </a:rPr>
              <a:t>intuitiva</a:t>
            </a:r>
            <a:endParaRPr sz="2600" dirty="0">
              <a:solidFill>
                <a:srgbClr val="FFFFFF"/>
              </a:solidFill>
            </a:endParaRPr>
          </a:p>
          <a:p>
            <a:pPr algn="l">
              <a:defRPr sz="1800"/>
            </a:pPr>
            <a:r>
              <a:rPr sz="2600" dirty="0">
                <a:solidFill>
                  <a:srgbClr val="FFFFFF"/>
                </a:solidFill>
              </a:rPr>
              <a:t>• </a:t>
            </a:r>
            <a:r>
              <a:rPr sz="2600" dirty="0" err="1">
                <a:solidFill>
                  <a:srgbClr val="FFFFFF"/>
                </a:solidFill>
              </a:rPr>
              <a:t>Eficiencia</a:t>
            </a:r>
            <a:endParaRPr sz="2600" dirty="0">
              <a:solidFill>
                <a:srgbClr val="FFFFFF"/>
              </a:solidFill>
            </a:endParaRPr>
          </a:p>
          <a:p>
            <a:pPr algn="l">
              <a:defRPr sz="1800"/>
            </a:pPr>
            <a:r>
              <a:rPr sz="2600" dirty="0">
                <a:solidFill>
                  <a:srgbClr val="FFFFFF"/>
                </a:solidFill>
              </a:rPr>
              <a:t>• </a:t>
            </a:r>
            <a:r>
              <a:rPr sz="2600" dirty="0" err="1">
                <a:solidFill>
                  <a:srgbClr val="FFFFFF"/>
                </a:solidFill>
              </a:rPr>
              <a:t>Satisfacción</a:t>
            </a:r>
            <a:r>
              <a:rPr sz="2600" dirty="0">
                <a:solidFill>
                  <a:srgbClr val="FFFFFF"/>
                </a:solidFill>
              </a:rPr>
              <a:t> del </a:t>
            </a:r>
            <a:r>
              <a:rPr sz="2600" dirty="0" err="1">
                <a:solidFill>
                  <a:srgbClr val="FFFFFF"/>
                </a:solidFill>
              </a:rPr>
              <a:t>usuario</a:t>
            </a:r>
            <a:endParaRPr sz="2600" dirty="0">
              <a:solidFill>
                <a:srgbClr val="FFFFFF"/>
              </a:solidFill>
            </a:endParaRPr>
          </a:p>
        </p:txBody>
      </p:sp>
      <p:pic>
        <p:nvPicPr>
          <p:cNvPr id="5122" name="Picture 2" descr="7 Principios UX para construir buenas experiencias digitales - Ada Malqui  Canelo">
            <a:extLst>
              <a:ext uri="{FF2B5EF4-FFF2-40B4-BE49-F238E27FC236}">
                <a16:creationId xmlns:a16="http://schemas.microsoft.com/office/drawing/2014/main" id="{ADDD7219-7E99-9D8B-173B-F4EC8ECDB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891" y="3931920"/>
            <a:ext cx="7315200" cy="2926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 dirty="0" err="1">
                <a:solidFill>
                  <a:srgbClr val="00C8FF"/>
                </a:solidFill>
              </a:rPr>
              <a:t>Usabilidad</a:t>
            </a:r>
            <a:endParaRPr sz="3800" b="1" dirty="0">
              <a:solidFill>
                <a:srgbClr val="00C8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sz="2600" dirty="0">
                <a:solidFill>
                  <a:srgbClr val="FFFFFF"/>
                </a:solidFill>
              </a:rPr>
              <a:t>La </a:t>
            </a:r>
            <a:r>
              <a:rPr sz="2600" dirty="0" err="1">
                <a:solidFill>
                  <a:srgbClr val="FFFFFF"/>
                </a:solidFill>
              </a:rPr>
              <a:t>usabilidad</a:t>
            </a:r>
            <a:r>
              <a:rPr sz="2600" dirty="0">
                <a:solidFill>
                  <a:srgbClr val="FFFFFF"/>
                </a:solidFill>
              </a:rPr>
              <a:t> </a:t>
            </a:r>
            <a:r>
              <a:rPr sz="2600" dirty="0" err="1">
                <a:solidFill>
                  <a:srgbClr val="FFFFFF"/>
                </a:solidFill>
              </a:rPr>
              <a:t>mide</a:t>
            </a:r>
            <a:r>
              <a:rPr sz="2600" dirty="0">
                <a:solidFill>
                  <a:srgbClr val="FFFFFF"/>
                </a:solidFill>
              </a:rPr>
              <a:t> </a:t>
            </a:r>
            <a:r>
              <a:rPr sz="2600" dirty="0" err="1">
                <a:solidFill>
                  <a:srgbClr val="FFFFFF"/>
                </a:solidFill>
              </a:rPr>
              <a:t>qué</a:t>
            </a:r>
            <a:r>
              <a:rPr sz="2600" dirty="0">
                <a:solidFill>
                  <a:srgbClr val="FFFFFF"/>
                </a:solidFill>
              </a:rPr>
              <a:t> tan </a:t>
            </a:r>
            <a:r>
              <a:rPr sz="2600" dirty="0" err="1">
                <a:solidFill>
                  <a:srgbClr val="FFFFFF"/>
                </a:solidFill>
              </a:rPr>
              <a:t>fácil</a:t>
            </a:r>
            <a:r>
              <a:rPr sz="2600" dirty="0">
                <a:solidFill>
                  <a:srgbClr val="FFFFFF"/>
                </a:solidFill>
              </a:rPr>
              <a:t> y </a:t>
            </a:r>
            <a:r>
              <a:rPr sz="2600" dirty="0" err="1">
                <a:solidFill>
                  <a:srgbClr val="FFFFFF"/>
                </a:solidFill>
              </a:rPr>
              <a:t>eficiente</a:t>
            </a:r>
            <a:r>
              <a:rPr sz="2600" dirty="0">
                <a:solidFill>
                  <a:srgbClr val="FFFFFF"/>
                </a:solidFill>
              </a:rPr>
              <a:t> es usar un </a:t>
            </a:r>
            <a:r>
              <a:rPr sz="2600" dirty="0" err="1">
                <a:solidFill>
                  <a:srgbClr val="FFFFFF"/>
                </a:solidFill>
              </a:rPr>
              <a:t>sistema</a:t>
            </a:r>
            <a:r>
              <a:rPr sz="2600" dirty="0">
                <a:solidFill>
                  <a:srgbClr val="FFFFFF"/>
                </a:solidFill>
              </a:rPr>
              <a:t> o </a:t>
            </a:r>
            <a:r>
              <a:rPr sz="2600" dirty="0" err="1">
                <a:solidFill>
                  <a:srgbClr val="FFFFFF"/>
                </a:solidFill>
              </a:rPr>
              <a:t>aplicación</a:t>
            </a:r>
            <a:r>
              <a:rPr sz="2600" dirty="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6148" name="Picture 4" descr="Principios de usabilidad web de Jakob Nielsen: diseño UX - Blog de  soluciones IT y tendencias IT">
            <a:extLst>
              <a:ext uri="{FF2B5EF4-FFF2-40B4-BE49-F238E27FC236}">
                <a16:creationId xmlns:a16="http://schemas.microsoft.com/office/drawing/2014/main" id="{614FFF62-B01B-FE13-C6E1-B263A8D96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762885"/>
            <a:ext cx="4876800" cy="354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 dirty="0" err="1">
                <a:solidFill>
                  <a:srgbClr val="00C8FF"/>
                </a:solidFill>
              </a:rPr>
              <a:t>Heurísticas</a:t>
            </a:r>
            <a:r>
              <a:rPr sz="3800" b="1" dirty="0">
                <a:solidFill>
                  <a:srgbClr val="00C8FF"/>
                </a:solidFill>
              </a:rPr>
              <a:t> de Nielsen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sz="2600" dirty="0">
                <a:solidFill>
                  <a:srgbClr val="FFFFFF"/>
                </a:solidFill>
              </a:rPr>
              <a:t>Jakob Nielsen </a:t>
            </a:r>
            <a:r>
              <a:rPr sz="2600" dirty="0" err="1">
                <a:solidFill>
                  <a:srgbClr val="FFFFFF"/>
                </a:solidFill>
              </a:rPr>
              <a:t>propuso</a:t>
            </a:r>
            <a:r>
              <a:rPr sz="2600" dirty="0">
                <a:solidFill>
                  <a:srgbClr val="FFFFFF"/>
                </a:solidFill>
              </a:rPr>
              <a:t> 10 </a:t>
            </a:r>
            <a:r>
              <a:rPr sz="2600" dirty="0" err="1">
                <a:solidFill>
                  <a:srgbClr val="FFFFFF"/>
                </a:solidFill>
              </a:rPr>
              <a:t>principios</a:t>
            </a:r>
            <a:r>
              <a:rPr sz="2600" dirty="0">
                <a:solidFill>
                  <a:srgbClr val="FFFFFF"/>
                </a:solidFill>
              </a:rPr>
              <a:t> para </a:t>
            </a:r>
            <a:r>
              <a:rPr sz="2600" dirty="0" err="1">
                <a:solidFill>
                  <a:srgbClr val="FFFFFF"/>
                </a:solidFill>
              </a:rPr>
              <a:t>evaluar</a:t>
            </a:r>
            <a:r>
              <a:rPr sz="2600" dirty="0">
                <a:solidFill>
                  <a:srgbClr val="FFFFFF"/>
                </a:solidFill>
              </a:rPr>
              <a:t> la </a:t>
            </a:r>
            <a:r>
              <a:rPr sz="2600" dirty="0" err="1">
                <a:solidFill>
                  <a:srgbClr val="FFFFFF"/>
                </a:solidFill>
              </a:rPr>
              <a:t>usabilidad</a:t>
            </a:r>
            <a:r>
              <a:rPr sz="2600" dirty="0">
                <a:solidFill>
                  <a:srgbClr val="FFFFFF"/>
                </a:solidFill>
              </a:rPr>
              <a:t> de interfaces.</a:t>
            </a:r>
          </a:p>
        </p:txBody>
      </p:sp>
      <p:pic>
        <p:nvPicPr>
          <p:cNvPr id="7" name="Picture 2" descr="10 principios de usabilidad de Jakob Nielsen (con ejemplos) - Diego Amorin">
            <a:extLst>
              <a:ext uri="{FF2B5EF4-FFF2-40B4-BE49-F238E27FC236}">
                <a16:creationId xmlns:a16="http://schemas.microsoft.com/office/drawing/2014/main" id="{37D2FB81-484E-6D90-F730-8D8227F9B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550" y="2629429"/>
            <a:ext cx="5930900" cy="3953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 dirty="0">
                <a:solidFill>
                  <a:srgbClr val="00C8FF"/>
                </a:solidFill>
              </a:rPr>
              <a:t>1. </a:t>
            </a:r>
            <a:r>
              <a:rPr sz="3800" b="1" dirty="0" err="1">
                <a:solidFill>
                  <a:srgbClr val="00C8FF"/>
                </a:solidFill>
              </a:rPr>
              <a:t>Visibilidad</a:t>
            </a:r>
            <a:r>
              <a:rPr sz="3800" b="1" dirty="0">
                <a:solidFill>
                  <a:srgbClr val="00C8FF"/>
                </a:solidFill>
              </a:rPr>
              <a:t> del </a:t>
            </a:r>
            <a:r>
              <a:rPr sz="3800" b="1" dirty="0" err="1">
                <a:solidFill>
                  <a:srgbClr val="00C8FF"/>
                </a:solidFill>
              </a:rPr>
              <a:t>estado</a:t>
            </a:r>
            <a:endParaRPr sz="3800" b="1" dirty="0">
              <a:solidFill>
                <a:srgbClr val="00C8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sz="2600" dirty="0">
                <a:solidFill>
                  <a:srgbClr val="FFFFFF"/>
                </a:solidFill>
              </a:rPr>
              <a:t>El </a:t>
            </a:r>
            <a:r>
              <a:rPr sz="2600" dirty="0" err="1">
                <a:solidFill>
                  <a:srgbClr val="FFFFFF"/>
                </a:solidFill>
              </a:rPr>
              <a:t>sistema</a:t>
            </a:r>
            <a:r>
              <a:rPr sz="2600" dirty="0">
                <a:solidFill>
                  <a:srgbClr val="FFFFFF"/>
                </a:solidFill>
              </a:rPr>
              <a:t> </a:t>
            </a:r>
            <a:r>
              <a:rPr sz="2600" dirty="0" err="1">
                <a:solidFill>
                  <a:srgbClr val="FFFFFF"/>
                </a:solidFill>
              </a:rPr>
              <a:t>debe</a:t>
            </a:r>
            <a:r>
              <a:rPr sz="2600" dirty="0">
                <a:solidFill>
                  <a:srgbClr val="FFFFFF"/>
                </a:solidFill>
              </a:rPr>
              <a:t> </a:t>
            </a:r>
            <a:r>
              <a:rPr sz="2600" dirty="0" err="1">
                <a:solidFill>
                  <a:srgbClr val="FFFFFF"/>
                </a:solidFill>
              </a:rPr>
              <a:t>informar</a:t>
            </a:r>
            <a:r>
              <a:rPr sz="2600" dirty="0">
                <a:solidFill>
                  <a:srgbClr val="FFFFFF"/>
                </a:solidFill>
              </a:rPr>
              <a:t> </a:t>
            </a:r>
            <a:r>
              <a:rPr sz="2600" dirty="0" err="1">
                <a:solidFill>
                  <a:srgbClr val="FFFFFF"/>
                </a:solidFill>
              </a:rPr>
              <a:t>siempre</a:t>
            </a:r>
            <a:r>
              <a:rPr sz="2600" dirty="0">
                <a:solidFill>
                  <a:srgbClr val="FFFFFF"/>
                </a:solidFill>
              </a:rPr>
              <a:t> </a:t>
            </a:r>
            <a:r>
              <a:rPr sz="2600" dirty="0" err="1">
                <a:solidFill>
                  <a:srgbClr val="FFFFFF"/>
                </a:solidFill>
              </a:rPr>
              <a:t>qué</a:t>
            </a:r>
            <a:r>
              <a:rPr sz="2600" dirty="0">
                <a:solidFill>
                  <a:srgbClr val="FFFFFF"/>
                </a:solidFill>
              </a:rPr>
              <a:t> </a:t>
            </a:r>
            <a:r>
              <a:rPr sz="2600" dirty="0" err="1">
                <a:solidFill>
                  <a:srgbClr val="FFFFFF"/>
                </a:solidFill>
              </a:rPr>
              <a:t>está</a:t>
            </a:r>
            <a:r>
              <a:rPr sz="2600" dirty="0">
                <a:solidFill>
                  <a:srgbClr val="FFFFFF"/>
                </a:solidFill>
              </a:rPr>
              <a:t> </a:t>
            </a:r>
            <a:r>
              <a:rPr sz="2600" dirty="0" err="1">
                <a:solidFill>
                  <a:srgbClr val="FFFFFF"/>
                </a:solidFill>
              </a:rPr>
              <a:t>pasando</a:t>
            </a:r>
            <a:r>
              <a:rPr sz="2600" dirty="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3C47CD3-5E6B-3671-3764-603CB86ED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119" y="2133598"/>
            <a:ext cx="3715762" cy="45259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C8FF"/>
                </a:solidFill>
              </a:rPr>
              <a:t>2. Relación con el mundo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Usar lenguaje y conceptos familiares para el usuario.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CEA806F-0129-1DAA-9024-7FAEFB6EF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526" y="2355186"/>
            <a:ext cx="3090948" cy="39535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C8FF"/>
                </a:solidFill>
              </a:rPr>
              <a:t>3. Control y libertad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Permitir deshacer o salir fácilmente de acciones.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558F994-BD67-B46A-860F-100C08803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0" y="2407724"/>
            <a:ext cx="2984500" cy="39010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C8FF"/>
                </a:solidFill>
              </a:rPr>
              <a:t>4. Consistencia y estándares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Mantener diseños y comportamientos uniformes.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2897C36-38FD-966E-D7C5-11EAAB711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676" y="2570608"/>
            <a:ext cx="2976648" cy="37381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C8FF"/>
                </a:solidFill>
              </a:rPr>
              <a:t>5. Prevención de errores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Diseñar para evitar errores antes de que ocurran.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A6545A2-15FD-D490-0A10-9569EB632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570" y="2284026"/>
            <a:ext cx="2898859" cy="38421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C8FF"/>
                </a:solidFill>
              </a:rPr>
              <a:t>6-10 Heurísticas restantes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• Reconocimiento antes que memoria</a:t>
            </a:r>
          </a:p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• Flexibilidad y eficiencia</a:t>
            </a:r>
          </a:p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• Diseño minimalista</a:t>
            </a:r>
          </a:p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• Ayuda para reconocer errores</a:t>
            </a:r>
          </a:p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• Ayuda y documentación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F44904D-EAB4-DD94-8CC9-FABE98324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74" y="4214667"/>
            <a:ext cx="6820852" cy="20862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C8FF"/>
                </a:solidFill>
              </a:rP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UI/UX mejora la experiencia digital.</a:t>
            </a:r>
          </a:p>
          <a:p>
            <a:pPr algn="l">
              <a:defRPr sz="1800"/>
            </a:pPr>
            <a:r>
              <a:rPr sz="2600">
                <a:solidFill>
                  <a:srgbClr val="FFFFFF"/>
                </a:solidFill>
              </a:rPr>
              <a:t>Las heurísticas de Nielsen ayudan a crear productos más usables y efectivos.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255</Words>
  <Application>Microsoft Office PowerPoint</Application>
  <PresentationFormat>Presentación en pantalla (4:3)</PresentationFormat>
  <Paragraphs>45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Portada</vt:lpstr>
      <vt:lpstr>¿Qué es UI?</vt:lpstr>
      <vt:lpstr>¿Qué es UX?</vt:lpstr>
      <vt:lpstr>DIFERENCIAS</vt:lpstr>
      <vt:lpstr>Principios de UI</vt:lpstr>
      <vt:lpstr>Principios de UX</vt:lpstr>
      <vt:lpstr>Usabilidad</vt:lpstr>
      <vt:lpstr>Heurísticas de Nielsen</vt:lpstr>
      <vt:lpstr>1. Visibilidad del estado</vt:lpstr>
      <vt:lpstr>2. Relación con el mundo real</vt:lpstr>
      <vt:lpstr>3. Control y libertad</vt:lpstr>
      <vt:lpstr>4. Consistencia y estándares</vt:lpstr>
      <vt:lpstr>5. Prevención de errores</vt:lpstr>
      <vt:lpstr>6-10 Heurísticas restantes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Mendez Emanuel</cp:lastModifiedBy>
  <cp:revision>2</cp:revision>
  <dcterms:created xsi:type="dcterms:W3CDTF">2013-01-27T09:14:16Z</dcterms:created>
  <dcterms:modified xsi:type="dcterms:W3CDTF">2026-05-25T19:36:50Z</dcterms:modified>
  <cp:category/>
</cp:coreProperties>
</file>