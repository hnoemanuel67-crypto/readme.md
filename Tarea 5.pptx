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71" r:id="rId13"/>
    <p:sldId id="272" r:id="rId14"/>
    <p:sldId id="273" r:id="rId15"/>
    <p:sldId id="275" r:id="rId16"/>
    <p:sldId id="278" r:id="rId17"/>
    <p:sldId id="279" r:id="rId18"/>
    <p:sldId id="28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219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24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477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366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941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53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907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8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3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932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405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80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394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899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065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21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SV" dirty="0"/>
              <a:t>Casos de Uso de UML.</a:t>
            </a:r>
            <a:br>
              <a:rPr lang="es-SV" dirty="0"/>
            </a:br>
            <a:r>
              <a:rPr lang="es-SV" dirty="0"/>
              <a:t>Título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36584A-F051-5E19-5D2D-31FDE6739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275" y="2219204"/>
            <a:ext cx="4743450" cy="3419475"/>
          </a:xfrm>
          <a:prstGeom prst="rect">
            <a:avLst/>
          </a:prstGeom>
        </p:spPr>
      </p:pic>
      <p:pic>
        <p:nvPicPr>
          <p:cNvPr id="1032" name="Picture 8" descr="Goblin Clash Royale Sticker - Goblin Clash Royale Cool - Descubre y  comparte GIF">
            <a:extLst>
              <a:ext uri="{FF2B5EF4-FFF2-40B4-BE49-F238E27FC236}">
                <a16:creationId xmlns:a16="http://schemas.microsoft.com/office/drawing/2014/main" id="{BFB926D6-7287-5BB8-A884-7D354DFDC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183" y="627112"/>
            <a:ext cx="1592092" cy="159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Goblin Clash Royale Sticker - Goblin Clash Royale Cool - Descubre y  comparte GIF">
            <a:extLst>
              <a:ext uri="{FF2B5EF4-FFF2-40B4-BE49-F238E27FC236}">
                <a16:creationId xmlns:a16="http://schemas.microsoft.com/office/drawing/2014/main" id="{FB8200AF-8042-449D-BB7D-61FFED903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446" y="627112"/>
            <a:ext cx="1592092" cy="159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Introducción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600" dirty="0"/>
              <a:t>Los </a:t>
            </a:r>
            <a:r>
              <a:rPr sz="2600" dirty="0" err="1"/>
              <a:t>casos</a:t>
            </a:r>
            <a:r>
              <a:rPr sz="2600" dirty="0"/>
              <a:t> de </a:t>
            </a:r>
            <a:r>
              <a:rPr sz="2600" dirty="0" err="1"/>
              <a:t>uso</a:t>
            </a:r>
            <a:r>
              <a:rPr sz="2600" dirty="0"/>
              <a:t> </a:t>
            </a:r>
            <a:r>
              <a:rPr sz="2600" dirty="0" err="1"/>
              <a:t>en</a:t>
            </a:r>
            <a:r>
              <a:rPr sz="2600" dirty="0"/>
              <a:t> UML </a:t>
            </a:r>
            <a:r>
              <a:rPr sz="2600" dirty="0" err="1"/>
              <a:t>describen</a:t>
            </a:r>
            <a:r>
              <a:rPr sz="2600" dirty="0"/>
              <a:t> </a:t>
            </a:r>
            <a:r>
              <a:rPr sz="2600" dirty="0" err="1"/>
              <a:t>cómo</a:t>
            </a:r>
            <a:r>
              <a:rPr sz="2600" dirty="0"/>
              <a:t> </a:t>
            </a:r>
            <a:r>
              <a:rPr sz="2600" dirty="0" err="1"/>
              <a:t>los</a:t>
            </a:r>
            <a:r>
              <a:rPr sz="2600" dirty="0"/>
              <a:t> </a:t>
            </a:r>
            <a:r>
              <a:rPr sz="2600" dirty="0" err="1"/>
              <a:t>usuarios</a:t>
            </a:r>
            <a:r>
              <a:rPr sz="2600" dirty="0"/>
              <a:t> </a:t>
            </a:r>
            <a:r>
              <a:rPr sz="2600" dirty="0" err="1"/>
              <a:t>interactúan</a:t>
            </a:r>
            <a:r>
              <a:rPr sz="2600" dirty="0"/>
              <a:t> con un </a:t>
            </a:r>
            <a:r>
              <a:rPr sz="2600" dirty="0" err="1"/>
              <a:t>sistema</a:t>
            </a:r>
            <a:r>
              <a:rPr sz="2600" dirty="0"/>
              <a:t> para </a:t>
            </a:r>
            <a:r>
              <a:rPr sz="2600" dirty="0" err="1"/>
              <a:t>lograr</a:t>
            </a:r>
            <a:r>
              <a:rPr sz="2600" dirty="0"/>
              <a:t> un </a:t>
            </a:r>
            <a:r>
              <a:rPr sz="2600" dirty="0" err="1"/>
              <a:t>objetivo</a:t>
            </a:r>
            <a:r>
              <a:rPr sz="2600" dirty="0"/>
              <a:t>.</a:t>
            </a:r>
          </a:p>
        </p:txBody>
      </p:sp>
      <p:pic>
        <p:nvPicPr>
          <p:cNvPr id="3078" name="Picture 6" descr="Duende Clash Royale">
            <a:extLst>
              <a:ext uri="{FF2B5EF4-FFF2-40B4-BE49-F238E27FC236}">
                <a16:creationId xmlns:a16="http://schemas.microsoft.com/office/drawing/2014/main" id="{4D48F6AB-439D-35A0-E271-37DF55420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34290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UML?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UML (Lenguaje Unificado de Modelado) es un lenguaje visual utilizado para modelar sistemas de software.</a:t>
            </a:r>
          </a:p>
        </p:txBody>
      </p:sp>
      <p:pic>
        <p:nvPicPr>
          <p:cNvPr id="2052" name="Picture 4" descr="Clash Royale Goblin">
            <a:extLst>
              <a:ext uri="{FF2B5EF4-FFF2-40B4-BE49-F238E27FC236}">
                <a16:creationId xmlns:a16="http://schemas.microsoft.com/office/drawing/2014/main" id="{A34F9279-6B2F-675B-F3B0-1A90F45E3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950" y="3549308"/>
            <a:ext cx="22479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Importancia</a:t>
            </a:r>
            <a:r>
              <a:rPr dirty="0"/>
              <a:t> de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representar</a:t>
            </a:r>
            <a:r>
              <a:rPr dirty="0"/>
              <a:t> </a:t>
            </a:r>
            <a:r>
              <a:rPr dirty="0" err="1"/>
              <a:t>gráficamente</a:t>
            </a:r>
            <a:r>
              <a:rPr dirty="0"/>
              <a:t> </a:t>
            </a:r>
            <a:r>
              <a:rPr dirty="0" err="1"/>
              <a:t>procesos</a:t>
            </a:r>
            <a:r>
              <a:rPr dirty="0"/>
              <a:t>, </a:t>
            </a:r>
            <a:r>
              <a:rPr dirty="0" err="1"/>
              <a:t>estructuras</a:t>
            </a:r>
            <a:r>
              <a:rPr dirty="0"/>
              <a:t> y </a:t>
            </a:r>
            <a:r>
              <a:rPr dirty="0" err="1"/>
              <a:t>comportamientos</a:t>
            </a:r>
            <a:r>
              <a:rPr dirty="0"/>
              <a:t> de un </a:t>
            </a:r>
            <a:r>
              <a:rPr dirty="0" err="1"/>
              <a:t>sistema</a:t>
            </a:r>
            <a:r>
              <a:rPr dirty="0"/>
              <a:t>.</a:t>
            </a:r>
          </a:p>
        </p:txBody>
      </p:sp>
      <p:pic>
        <p:nvPicPr>
          <p:cNvPr id="4100" name="Picture 4" descr="Clash Royale Emotes by RafQ - Paquete de stickers para WhatsApp">
            <a:extLst>
              <a:ext uri="{FF2B5EF4-FFF2-40B4-BE49-F238E27FC236}">
                <a16:creationId xmlns:a16="http://schemas.microsoft.com/office/drawing/2014/main" id="{77BAA376-DDAC-CA57-D187-6BD4021EC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34290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Caso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casos de uso describen las funcionalidades que un sistema ofrece a sus usuarios.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CFA1CA-F511-69C8-B638-3FC021EE7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854" y="3270150"/>
            <a:ext cx="4248291" cy="3062523"/>
          </a:xfrm>
          <a:prstGeom prst="rect">
            <a:avLst/>
          </a:prstGeom>
        </p:spPr>
      </p:pic>
      <p:pic>
        <p:nvPicPr>
          <p:cNvPr id="6148" name="Picture 4" descr="🗝️ llavero de duende clash royale・Archivo STL para ・Cults">
            <a:extLst>
              <a:ext uri="{FF2B5EF4-FFF2-40B4-BE49-F238E27FC236}">
                <a16:creationId xmlns:a16="http://schemas.microsoft.com/office/drawing/2014/main" id="{33240775-8CE8-3784-B2F2-F239BCE7E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318" y="764664"/>
            <a:ext cx="1848843" cy="145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Elementos</a:t>
            </a:r>
            <a:r>
              <a:rPr dirty="0"/>
              <a:t> de un Caso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Actor, </a:t>
            </a:r>
            <a:r>
              <a:rPr dirty="0" err="1"/>
              <a:t>sistema</a:t>
            </a:r>
            <a:r>
              <a:rPr dirty="0"/>
              <a:t>, </a:t>
            </a:r>
            <a:r>
              <a:rPr dirty="0" err="1"/>
              <a:t>escenario</a:t>
            </a:r>
            <a:r>
              <a:rPr dirty="0"/>
              <a:t>, </a:t>
            </a:r>
            <a:r>
              <a:rPr dirty="0" err="1"/>
              <a:t>flujos</a:t>
            </a:r>
            <a:r>
              <a:rPr dirty="0"/>
              <a:t> y </a:t>
            </a:r>
            <a:r>
              <a:rPr dirty="0" err="1"/>
              <a:t>reglas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.</a:t>
            </a:r>
          </a:p>
        </p:txBody>
      </p:sp>
      <p:pic>
        <p:nvPicPr>
          <p:cNvPr id="5122" name="Picture 2" descr="Elementos del diagrama de casos de uso - La Oficina de Proyectos de  Informática">
            <a:extLst>
              <a:ext uri="{FF2B5EF4-FFF2-40B4-BE49-F238E27FC236}">
                <a16:creationId xmlns:a16="http://schemas.microsoft.com/office/drawing/2014/main" id="{3FB63C7A-FECB-05D0-2D6D-C7EF15692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5" y="3429000"/>
            <a:ext cx="64579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MHS_84 CR - Paquete de stickers para WhatsApp">
            <a:extLst>
              <a:ext uri="{FF2B5EF4-FFF2-40B4-BE49-F238E27FC236}">
                <a16:creationId xmlns:a16="http://schemas.microsoft.com/office/drawing/2014/main" id="{6798C553-A20F-37AE-6968-2B47A2782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751" y="4845476"/>
            <a:ext cx="1148497" cy="114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Fa</a:t>
            </a:r>
            <a:r>
              <a:rPr dirty="0" err="1"/>
              <a:t>ctores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Los </a:t>
            </a:r>
            <a:r>
              <a:rPr lang="es-SV" dirty="0"/>
              <a:t>f</a:t>
            </a:r>
            <a:r>
              <a:rPr dirty="0" err="1"/>
              <a:t>actores</a:t>
            </a:r>
            <a:r>
              <a:rPr dirty="0"/>
              <a:t> </a:t>
            </a:r>
            <a:r>
              <a:rPr dirty="0" err="1"/>
              <a:t>representan</a:t>
            </a:r>
            <a:r>
              <a:rPr dirty="0"/>
              <a:t> </a:t>
            </a:r>
            <a:r>
              <a:rPr dirty="0" err="1"/>
              <a:t>usuarios</a:t>
            </a:r>
            <a:r>
              <a:rPr dirty="0"/>
              <a:t> o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externos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interactúan</a:t>
            </a:r>
            <a:r>
              <a:rPr dirty="0"/>
              <a:t> con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.</a:t>
            </a:r>
          </a:p>
        </p:txBody>
      </p:sp>
      <p:pic>
        <p:nvPicPr>
          <p:cNvPr id="7170" name="Picture 2" descr="Diagramas UML - Aprende todo sobre los diagramas UML | Canva">
            <a:extLst>
              <a:ext uri="{FF2B5EF4-FFF2-40B4-BE49-F238E27FC236}">
                <a16:creationId xmlns:a16="http://schemas.microsoft.com/office/drawing/2014/main" id="{C4DFE60C-491E-9D5C-9391-DF71313F0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104" y="3429000"/>
            <a:ext cx="3459064" cy="259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Goblin Kiss Emote Clash Royale&quot; Sticker for Sale by LeSolder | Redbubble">
            <a:extLst>
              <a:ext uri="{FF2B5EF4-FFF2-40B4-BE49-F238E27FC236}">
                <a16:creationId xmlns:a16="http://schemas.microsoft.com/office/drawing/2014/main" id="{D12D79D5-19F6-5453-8CC6-177E29107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845" y="3643531"/>
            <a:ext cx="1419079" cy="189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Sistema </a:t>
            </a:r>
            <a:r>
              <a:rPr dirty="0" err="1"/>
              <a:t>en</a:t>
            </a:r>
            <a:r>
              <a:rPr dirty="0"/>
              <a:t>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sistema es la aplicación o software que ejecuta las funciones.</a:t>
            </a:r>
          </a:p>
        </p:txBody>
      </p:sp>
      <p:pic>
        <p:nvPicPr>
          <p:cNvPr id="8196" name="Picture 4" descr="Pegatina for Sale con la obra «Duende feliz: diseño inspirado en Clash  Royale» de ZHBRZ | Redbubble">
            <a:extLst>
              <a:ext uri="{FF2B5EF4-FFF2-40B4-BE49-F238E27FC236}">
                <a16:creationId xmlns:a16="http://schemas.microsoft.com/office/drawing/2014/main" id="{B3E73B5C-8A7B-9B98-347D-039AEA663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253" y="314107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Ejemplo</a:t>
            </a:r>
            <a:r>
              <a:rPr dirty="0"/>
              <a:t>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376609"/>
            <a:ext cx="6798736" cy="3444997"/>
          </a:xfrm>
        </p:spPr>
        <p:txBody>
          <a:bodyPr/>
          <a:lstStyle/>
          <a:p>
            <a:r>
              <a:rPr dirty="0"/>
              <a:t>Sistema de Biblioteca</a:t>
            </a:r>
          </a:p>
        </p:txBody>
      </p:sp>
      <p:pic>
        <p:nvPicPr>
          <p:cNvPr id="1026" name="Picture 2" descr="Sistema de Gestion de Biblioteca | CompuBinario">
            <a:extLst>
              <a:ext uri="{FF2B5EF4-FFF2-40B4-BE49-F238E27FC236}">
                <a16:creationId xmlns:a16="http://schemas.microsoft.com/office/drawing/2014/main" id="{511F9F85-933B-986D-FF2A-381F1855A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866" y="3194501"/>
            <a:ext cx="4856163" cy="2627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lash royale goblin - Paquete de stickers para WhatsApp">
            <a:extLst>
              <a:ext uri="{FF2B5EF4-FFF2-40B4-BE49-F238E27FC236}">
                <a16:creationId xmlns:a16="http://schemas.microsoft.com/office/drawing/2014/main" id="{0A0B7518-0FD2-7A01-A00D-A34545E33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181" y="3882682"/>
            <a:ext cx="1990158" cy="181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Sistema de Cajero </a:t>
            </a:r>
            <a:r>
              <a:rPr dirty="0" err="1"/>
              <a:t>Automático</a:t>
            </a:r>
            <a:endParaRPr dirty="0"/>
          </a:p>
        </p:txBody>
      </p:sp>
      <p:pic>
        <p:nvPicPr>
          <p:cNvPr id="2050" name="Picture 2" descr="Sistema de Cajero Automático Bancario | CompuBinario">
            <a:extLst>
              <a:ext uri="{FF2B5EF4-FFF2-40B4-BE49-F238E27FC236}">
                <a16:creationId xmlns:a16="http://schemas.microsoft.com/office/drawing/2014/main" id="{B4E49D74-69A0-E96F-963B-47731A620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866" y="3276234"/>
            <a:ext cx="4533387" cy="24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lash royale goblin - Paquete de stickers para WhatsApp">
            <a:extLst>
              <a:ext uri="{FF2B5EF4-FFF2-40B4-BE49-F238E27FC236}">
                <a16:creationId xmlns:a16="http://schemas.microsoft.com/office/drawing/2014/main" id="{6ECACBB1-B9EE-B4F6-C8A8-95B43E2B6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038" y="3882682"/>
            <a:ext cx="1990158" cy="181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Sistema de Tienda </a:t>
            </a:r>
            <a:r>
              <a:rPr dirty="0" err="1"/>
              <a:t>en</a:t>
            </a:r>
            <a:r>
              <a:rPr dirty="0"/>
              <a:t> Línea</a:t>
            </a:r>
          </a:p>
        </p:txBody>
      </p:sp>
      <p:pic>
        <p:nvPicPr>
          <p:cNvPr id="3080" name="Picture 8" descr="Cómo funciona una tienda online: Todo el proceso desde que el usuario  compra online hasta que recibe el producto. - Andreoli Estudio | Branding,  Diseño Páginas Web en Valencia">
            <a:extLst>
              <a:ext uri="{FF2B5EF4-FFF2-40B4-BE49-F238E27FC236}">
                <a16:creationId xmlns:a16="http://schemas.microsoft.com/office/drawing/2014/main" id="{AE1DA79B-9DE8-87BD-7AE7-4729E95C4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595" y="2530416"/>
            <a:ext cx="3261140" cy="336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lash royale goblin - Paquete de stickers para WhatsApp">
            <a:extLst>
              <a:ext uri="{FF2B5EF4-FFF2-40B4-BE49-F238E27FC236}">
                <a16:creationId xmlns:a16="http://schemas.microsoft.com/office/drawing/2014/main" id="{A7A637ED-D8E8-BB70-812D-274DB8359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651" y="3587260"/>
            <a:ext cx="1990158" cy="181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Factores</a:t>
            </a:r>
            <a:r>
              <a:rPr dirty="0"/>
              <a:t> </a:t>
            </a:r>
            <a:r>
              <a:rPr dirty="0" err="1"/>
              <a:t>Principales</a:t>
            </a:r>
            <a:endParaRPr dirty="0"/>
          </a:p>
        </p:txBody>
      </p:sp>
      <p:pic>
        <p:nvPicPr>
          <p:cNvPr id="12290" name="Picture 2" descr="Los principales actores en el funcionamiento de un proceso de negocio... |  Download Scientific Diagram">
            <a:extLst>
              <a:ext uri="{FF2B5EF4-FFF2-40B4-BE49-F238E27FC236}">
                <a16:creationId xmlns:a16="http://schemas.microsoft.com/office/drawing/2014/main" id="{9B501870-53CD-C49D-4992-0FC2136BB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426" y="2433711"/>
            <a:ext cx="5387147" cy="380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Tipos</a:t>
            </a:r>
            <a:r>
              <a:rPr dirty="0"/>
              <a:t> de Sistemas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Sistemas web, sistemas empresariales, sistemas móviles y sistemas de información.</a:t>
            </a:r>
          </a:p>
        </p:txBody>
      </p:sp>
      <p:pic>
        <p:nvPicPr>
          <p:cNvPr id="13316" name="Picture 4" descr="Tipos de Sistemas Operativos: Por Lotes, Compartido, Distribuido, en red y  en tiempo real">
            <a:extLst>
              <a:ext uri="{FF2B5EF4-FFF2-40B4-BE49-F238E27FC236}">
                <a16:creationId xmlns:a16="http://schemas.microsoft.com/office/drawing/2014/main" id="{F9293B64-A4F8-4F22-C58A-FBCE94989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341" y="3429000"/>
            <a:ext cx="5050008" cy="2669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clash royale goblin - Paquete de stickers para WhatsApp">
            <a:extLst>
              <a:ext uri="{FF2B5EF4-FFF2-40B4-BE49-F238E27FC236}">
                <a16:creationId xmlns:a16="http://schemas.microsoft.com/office/drawing/2014/main" id="{18D9729D-E1D0-01E9-180C-0A076046B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974" y="4156692"/>
            <a:ext cx="1563364" cy="1213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Sistema de </a:t>
            </a:r>
            <a:r>
              <a:rPr dirty="0" err="1"/>
              <a:t>Información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Gestiona datos y ayuda en la toma de decisiones.</a:t>
            </a:r>
          </a:p>
        </p:txBody>
      </p:sp>
      <p:pic>
        <p:nvPicPr>
          <p:cNvPr id="4" name="Picture 2" descr="Goblin Discord Emojis | Discord Emotes List">
            <a:extLst>
              <a:ext uri="{FF2B5EF4-FFF2-40B4-BE49-F238E27FC236}">
                <a16:creationId xmlns:a16="http://schemas.microsoft.com/office/drawing/2014/main" id="{A6E39EE1-D24D-2970-A6E1-73655990B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034" y="4154045"/>
            <a:ext cx="1190625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8" name="Picture 2" descr="No es lo mismo Tecnología de la Información que Sistemas de Información:  Conoce las Diferencias">
            <a:extLst>
              <a:ext uri="{FF2B5EF4-FFF2-40B4-BE49-F238E27FC236}">
                <a16:creationId xmlns:a16="http://schemas.microsoft.com/office/drawing/2014/main" id="{42004C92-BA7A-104B-17AD-AB8DF7FEB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97" y="3185646"/>
            <a:ext cx="4089391" cy="254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Flujos</a:t>
            </a:r>
            <a:r>
              <a:rPr dirty="0"/>
              <a:t> </a:t>
            </a:r>
            <a:r>
              <a:rPr dirty="0" err="1"/>
              <a:t>Alternos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Son </a:t>
            </a:r>
            <a:r>
              <a:rPr dirty="0" err="1"/>
              <a:t>variaciones</a:t>
            </a:r>
            <a:r>
              <a:rPr dirty="0"/>
              <a:t> del </a:t>
            </a:r>
            <a:r>
              <a:rPr dirty="0" err="1"/>
              <a:t>flujo</a:t>
            </a:r>
            <a:r>
              <a:rPr dirty="0"/>
              <a:t> principal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ocurre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situación</a:t>
            </a:r>
            <a:r>
              <a:rPr dirty="0"/>
              <a:t> </a:t>
            </a:r>
            <a:r>
              <a:rPr dirty="0" err="1"/>
              <a:t>diferente</a:t>
            </a:r>
            <a:r>
              <a:rPr dirty="0"/>
              <a:t>.</a:t>
            </a:r>
          </a:p>
        </p:txBody>
      </p:sp>
      <p:pic>
        <p:nvPicPr>
          <p:cNvPr id="15362" name="Picture 2" descr="Diagrama de flujo alterno (hexagonal)|Proceso">
            <a:extLst>
              <a:ext uri="{FF2B5EF4-FFF2-40B4-BE49-F238E27FC236}">
                <a16:creationId xmlns:a16="http://schemas.microsoft.com/office/drawing/2014/main" id="{D6B11AD7-F4F4-52D2-A9BE-9943122B8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272" y="3370544"/>
            <a:ext cx="5040923" cy="283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Descubre 16 ideas de Emojis de clash Royale y clash royale | clash royale  imagenes, clash royal cartas, cofres de clash royale y más">
            <a:extLst>
              <a:ext uri="{FF2B5EF4-FFF2-40B4-BE49-F238E27FC236}">
                <a16:creationId xmlns:a16="http://schemas.microsoft.com/office/drawing/2014/main" id="{3D54EC39-F71B-B508-A927-B1838BBD3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551" y="4021869"/>
            <a:ext cx="1828930" cy="1920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Descripción</a:t>
            </a:r>
            <a:r>
              <a:rPr dirty="0"/>
              <a:t> de Caso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Documento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explica</a:t>
            </a:r>
            <a:r>
              <a:rPr dirty="0"/>
              <a:t> </a:t>
            </a:r>
            <a:r>
              <a:rPr dirty="0" err="1"/>
              <a:t>detalladamente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funcionalidad</a:t>
            </a:r>
            <a:r>
              <a:rPr dirty="0"/>
              <a:t>.</a:t>
            </a:r>
          </a:p>
        </p:txBody>
      </p:sp>
      <p:pic>
        <p:nvPicPr>
          <p:cNvPr id="17414" name="Picture 6" descr="Descripción de Casos de Uso">
            <a:extLst>
              <a:ext uri="{FF2B5EF4-FFF2-40B4-BE49-F238E27FC236}">
                <a16:creationId xmlns:a16="http://schemas.microsoft.com/office/drawing/2014/main" id="{9A535B3D-0C86-8475-5909-1369C34D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866" y="3330526"/>
            <a:ext cx="4937001" cy="277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6" name="Picture 8" descr="Clash Royale Emotes by RafQ - Paquete de stickers para WhatsApp">
            <a:extLst>
              <a:ext uri="{FF2B5EF4-FFF2-40B4-BE49-F238E27FC236}">
                <a16:creationId xmlns:a16="http://schemas.microsoft.com/office/drawing/2014/main" id="{1A95889F-006E-E4F2-13B2-CBC808B37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909" y="379953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Elementos</a:t>
            </a:r>
            <a:r>
              <a:rPr dirty="0"/>
              <a:t> de la </a:t>
            </a:r>
            <a:r>
              <a:rPr dirty="0" err="1"/>
              <a:t>Descripción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Nombre, actor, </a:t>
            </a:r>
            <a:r>
              <a:rPr dirty="0" err="1"/>
              <a:t>precondiciones</a:t>
            </a:r>
            <a:r>
              <a:rPr dirty="0"/>
              <a:t>, </a:t>
            </a:r>
            <a:r>
              <a:rPr dirty="0" err="1"/>
              <a:t>flujo</a:t>
            </a:r>
            <a:r>
              <a:rPr dirty="0"/>
              <a:t> principal, </a:t>
            </a:r>
            <a:r>
              <a:rPr dirty="0" err="1"/>
              <a:t>flujos</a:t>
            </a:r>
            <a:r>
              <a:rPr dirty="0"/>
              <a:t> </a:t>
            </a:r>
            <a:r>
              <a:rPr dirty="0" err="1"/>
              <a:t>alternos</a:t>
            </a:r>
            <a:r>
              <a:rPr dirty="0"/>
              <a:t>.</a:t>
            </a:r>
          </a:p>
        </p:txBody>
      </p:sp>
      <p:pic>
        <p:nvPicPr>
          <p:cNvPr id="18434" name="Picture 2" descr="Cuáles son los elementos de la descripción? - La descripción">
            <a:extLst>
              <a:ext uri="{FF2B5EF4-FFF2-40B4-BE49-F238E27FC236}">
                <a16:creationId xmlns:a16="http://schemas.microsoft.com/office/drawing/2014/main" id="{B32823AE-1E1F-9322-8045-311E39767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858" y="3429000"/>
            <a:ext cx="48196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C800221-7AEB-CE17-1AF2-4CA44FDF6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060" y="4322975"/>
            <a:ext cx="1932233" cy="14491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casos de uso ayudan a comprender cómo funciona un sistema desde la perspectiva del usuario.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9E0A0F3-9709-EA5C-E642-3127851DF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744" y="3532492"/>
            <a:ext cx="3372512" cy="240264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72</TotalTime>
  <Words>243</Words>
  <Application>Microsoft Office PowerPoint</Application>
  <PresentationFormat>Presentación en pantalla (4:3)</PresentationFormat>
  <Paragraphs>34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Garamond</vt:lpstr>
      <vt:lpstr>Orgánico</vt:lpstr>
      <vt:lpstr>Casos de Uso de UML. Título</vt:lpstr>
      <vt:lpstr>Introducción</vt:lpstr>
      <vt:lpstr>¿Qué es UML?</vt:lpstr>
      <vt:lpstr>Importancia de UML</vt:lpstr>
      <vt:lpstr>Caso de Uso</vt:lpstr>
      <vt:lpstr>Elementos de un Caso de Uso</vt:lpstr>
      <vt:lpstr>Factores en UML</vt:lpstr>
      <vt:lpstr>Sistema en UML</vt:lpstr>
      <vt:lpstr>Ejemplo 1</vt:lpstr>
      <vt:lpstr>Ejemplo 2</vt:lpstr>
      <vt:lpstr>Ejemplo 3</vt:lpstr>
      <vt:lpstr>Factores Principales</vt:lpstr>
      <vt:lpstr>Tipos de Sistemas</vt:lpstr>
      <vt:lpstr>Sistema de Información</vt:lpstr>
      <vt:lpstr>Flujos Alternos</vt:lpstr>
      <vt:lpstr>Descripción de Caso de Uso</vt:lpstr>
      <vt:lpstr>Elementos de la Descripción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Mendez Emanuel</dc:creator>
  <cp:keywords/>
  <dc:description>generated using python-pptx</dc:description>
  <cp:lastModifiedBy>Mendez Emanuel</cp:lastModifiedBy>
  <cp:revision>3</cp:revision>
  <dcterms:created xsi:type="dcterms:W3CDTF">2013-01-27T09:14:16Z</dcterms:created>
  <dcterms:modified xsi:type="dcterms:W3CDTF">2026-03-10T03:45:09Z</dcterms:modified>
  <cp:category/>
</cp:coreProperties>
</file>